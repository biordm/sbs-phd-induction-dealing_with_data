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lang="fr-FR" sz="1800" spc="-1" strike="noStrike">
                <a:solidFill>
                  <a:srgbClr val="000000"/>
                </a:solidFill>
                <a:latin typeface="Calibri"/>
              </a:defRPr>
            </a:pPr>
            <a:r>
              <a:rPr b="1" lang="fr-FR" sz="1800" spc="-1" strike="noStrike">
                <a:solidFill>
                  <a:srgbClr val="000000"/>
                </a:solidFill>
                <a:latin typeface="Calibri"/>
              </a:rPr>
              <a:t>k-1, 2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scatterChart>
        <c:scatterStyle val="lineMarker"/>
        <c:varyColors val="0"/>
        <c:ser>
          <c:idx val="0"/>
          <c:order val="0"/>
          <c:spPr>
            <a:solidFill>
              <a:srgbClr val="99ccff"/>
            </a:solidFill>
            <a:ln w="28440">
              <a:noFill/>
            </a:ln>
          </c:spP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spPr>
              <a:ln w="9360">
                <a:solidFill>
                  <a:srgbClr val="000000"/>
                </a:solidFill>
                <a:round/>
              </a:ln>
            </c:spPr>
            <c:trendlineType val="linear"/>
            <c:forward val="0"/>
            <c:backward val="0"/>
            <c:dispRSqr val="1"/>
            <c:dispEq val="0"/>
          </c:trendline>
          <c:errBars>
            <c:errDir val="y"/>
            <c:errBarType val="both"/>
            <c:errValType val="cust"/>
            <c:noEndCap val="0"/>
            <c:plus>
              <c:numRef>
                <c:f>2</c:f>
                <c:numCache>
                  <c:formatCode>General</c:formatCode>
                  <c:ptCount val="4"/>
                  <c:pt idx="0">
                    <c:v>0.0109696551146029</c:v>
                  </c:pt>
                  <c:pt idx="1">
                    <c:v>0.00152752523165195</c:v>
                  </c:pt>
                  <c:pt idx="2">
                    <c:v>0.003</c:v>
                  </c:pt>
                  <c:pt idx="3">
                    <c:v>0.000577350269189625</c:v>
                  </c:pt>
                </c:numCache>
              </c:numRef>
            </c:plus>
            <c:minus>
              <c:numRef>
                <c:f>3</c:f>
                <c:numCache>
                  <c:formatCode>General</c:formatCode>
                  <c:ptCount val="4"/>
                  <c:pt idx="0">
                    <c:v>0.0109696551146029</c:v>
                  </c:pt>
                  <c:pt idx="1">
                    <c:v>0.00152752523165195</c:v>
                  </c:pt>
                  <c:pt idx="2">
                    <c:v>0.003</c:v>
                  </c:pt>
                  <c:pt idx="3">
                    <c:v>0.000577350269189625</c:v>
                  </c:pt>
                </c:numCache>
              </c:numRef>
            </c:minus>
            <c:spPr>
              <a:ln w="9360">
                <a:solidFill>
                  <a:srgbClr val="000000"/>
                </a:solidFill>
                <a:round/>
              </a:ln>
            </c:spPr>
          </c:errBars>
          <c:xVal>
            <c:numRef>
              <c:f>1</c:f>
              <c:numCache>
                <c:formatCode>General</c:formatCode>
                <c:ptCount val="4"/>
                <c:pt idx="0">
                  <c:v>158</c:v>
                </c:pt>
                <c:pt idx="1">
                  <c:v>81</c:v>
                </c:pt>
                <c:pt idx="2">
                  <c:v>40.5</c:v>
                </c:pt>
                <c:pt idx="3">
                  <c:v>14.5</c:v>
                </c:pt>
              </c:numCache>
            </c:numRef>
          </c:xVal>
          <c:yVal>
            <c:numRef>
              <c:f>0</c:f>
              <c:numCache>
                <c:formatCode>0.000</c:formatCode>
                <c:ptCount val="4"/>
                <c:pt idx="0">
                  <c:v>0.0633333333333333</c:v>
                </c:pt>
                <c:pt idx="1">
                  <c:v>0.0373333333333333</c:v>
                </c:pt>
                <c:pt idx="2">
                  <c:v>0.025</c:v>
                </c:pt>
                <c:pt idx="3">
                  <c:v>0.0126666666666667</c:v>
                </c:pt>
              </c:numCache>
            </c:numRef>
          </c:yVal>
          <c:smooth val="0"/>
        </c:ser>
        <c:axId val="23848355"/>
        <c:axId val="71721039"/>
      </c:scatterChart>
      <c:valAx>
        <c:axId val="2384835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71721039"/>
        <c:crosses val="autoZero"/>
        <c:crossBetween val="midCat"/>
      </c:valAx>
      <c:valAx>
        <c:axId val="71721039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23848355"/>
        <c:crosses val="autoZero"/>
        <c:crossBetween val="midCat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739D48-FD33-4FE6-BCDB-7B58518B87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213FE9-F70F-4704-BD9E-6FB94464AB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5997DA3-B71B-4F6D-A1AA-CD6F905942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12AD111-7495-4C34-9C36-AC40F0955A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44858A3-F10E-4CEA-A786-C87529C73A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83BBDCE-7BD2-4B35-9807-5FF2338A77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052EAE7-6978-4F93-9F48-A3932D83B7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2542DB9-C3FC-467D-9645-8B7CC25389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A38CFB5-FF29-4373-A9D5-9038DD4F3F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273099A-E978-42E7-9396-1FDA668DAE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99E486D-01B7-4724-9F2E-462DB78107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7EBB80-37A6-4D15-A48A-A6DDD17A2CD2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B8FC78-08CF-4DA9-85F0-7836C291418E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7AD2D-B8C4-40F1-B796-1EFFC6E662B8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004625-0CCE-40CC-B419-2C6EDC596EAB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4000" spc="-1" strike="noStrike" cap="all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Modifiez les styles du texte du masque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6515F0-462C-4682-8E0A-A6328ACD20D3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E0FD01-66DD-41DC-80F4-A3DDAD284F0A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fr-FR" sz="24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16D4E8-2E6D-4CAB-8B22-4BFC8486B4F1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C3586-660B-4E21-8790-05450B1502F9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1D2988-DD55-479A-AD62-D2D66AC70E86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Deuxième niveau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Troisième niveau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E6C2D0-97D4-4354-A17B-6E98E05FDF83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fr-FR" sz="2000" spc="-1" strike="noStrike">
                <a:solidFill>
                  <a:schemeClr val="dk1"/>
                </a:solidFill>
                <a:latin typeface="Calibri"/>
              </a:rPr>
              <a:t>Modifiez le style du titre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Modifiez les styles du texte du masque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93B59-95EB-4110-BB35-939D4021E11A}" type="slidenum">
              <a:rPr b="0" lang="fr-F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8418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Single-molecule and bulk experiments</a:t>
            </a:r>
            <a:br>
              <a:rPr sz="4400"/>
            </a:br>
            <a:br>
              <a:rPr sz="4400"/>
            </a:br>
            <a:r>
              <a:rPr b="0" lang="fr-FR" sz="4400" spc="-1" strike="noStrike">
                <a:solidFill>
                  <a:schemeClr val="dk1"/>
                </a:solidFill>
                <a:latin typeface="Calibri"/>
              </a:rPr>
              <a:t>mEos4b red form</a:t>
            </a:r>
            <a:endParaRPr b="0" lang="fr-F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23/08/2017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67640" y="44640"/>
            <a:ext cx="8229240" cy="7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Single-molecule experiments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764640"/>
            <a:ext cx="8229240" cy="5904360"/>
          </a:xfrm>
          <a:prstGeom prst="rect">
            <a:avLst/>
          </a:prstGeom>
          <a:blipFill rotWithShape="0">
            <a:blip r:embed="rId1"/>
            <a:stretch>
              <a:fillRect l="-223" t="-207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0" name="Picture 2" descr="\\SCIENCE4\exp-plateforme-m4d\PALM\DANIEL\170817\SM_processing\Plot_Off_Times_fit_Exp1_T1.2.png"/>
          <p:cNvPicPr/>
          <p:nvPr/>
        </p:nvPicPr>
        <p:blipFill>
          <a:blip r:embed="rId2"/>
          <a:stretch/>
        </p:blipFill>
        <p:spPr>
          <a:xfrm>
            <a:off x="2195640" y="1268640"/>
            <a:ext cx="3264120" cy="244800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71" name="Tableau 5"/>
          <p:cNvGraphicFramePr/>
          <p:nvPr/>
        </p:nvGraphicFramePr>
        <p:xfrm>
          <a:off x="539640" y="4077000"/>
          <a:ext cx="4203360" cy="761760"/>
        </p:xfrm>
        <a:graphic>
          <a:graphicData uri="http://schemas.openxmlformats.org/drawingml/2006/table">
            <a:tbl>
              <a:tblPr/>
              <a:tblGrid>
                <a:gridCol w="1155600"/>
                <a:gridCol w="761760"/>
                <a:gridCol w="761760"/>
                <a:gridCol w="761760"/>
                <a:gridCol w="761760"/>
              </a:tblGrid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Laser power (mW)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Mean k-1, 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SD k-1, 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Mean k-1, 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SD k-1, 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15,4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13,7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1,3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0,74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7,9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12,2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0,55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15,0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2,0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0,33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au 7"/>
          <p:cNvGraphicFramePr/>
          <p:nvPr/>
        </p:nvGraphicFramePr>
        <p:xfrm>
          <a:off x="4932000" y="3861000"/>
          <a:ext cx="2679480" cy="952200"/>
        </p:xfrm>
        <a:graphic>
          <a:graphicData uri="http://schemas.openxmlformats.org/drawingml/2006/table">
            <a:tbl>
              <a:tblPr/>
              <a:tblGrid>
                <a:gridCol w="1155600"/>
                <a:gridCol w="761760"/>
                <a:gridCol w="761760"/>
              </a:tblGrid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endParaRPr b="1" lang="fr-FR" sz="11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 gridSpan="2">
                  <a:txBody>
                    <a:bodyPr lIns="9360" rIns="9360" t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Mean lifetimes (s)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Laser power (mW)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15,4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1,4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7,9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1,8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3,0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67640" y="44640"/>
            <a:ext cx="8229240" cy="7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Bulk experiments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179640" y="692640"/>
            <a:ext cx="8712720" cy="338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Experimental procedure: fluorescence readout and actinic 405- or 561-nm light are applied separately: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</a:pP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</a:pP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</a:pP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</a:pP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</a:pP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</a:pP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320"/>
              </a:spcBef>
              <a:buNone/>
            </a:pP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Fitting with a kinetic model: (k</a:t>
            </a:r>
            <a:r>
              <a:rPr b="0" lang="fr-FR" sz="1600" spc="-1" strike="noStrike" baseline="-25000">
                <a:solidFill>
                  <a:schemeClr val="dk1"/>
                </a:solidFill>
                <a:latin typeface="Calibri"/>
              </a:rPr>
              <a:t>-1,1</a:t>
            </a: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 is fixed to the mean value of single-molecule experiments)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5" name="Picture 5" descr="\\SCIENCE2\ibs-equipe-bourgeois-sc2\DOMINIQUE\DANIEL\mEOS2_green_figures\Numbered_figures\Figure_S1.png"/>
          <p:cNvPicPr/>
          <p:nvPr/>
        </p:nvPicPr>
        <p:blipFill>
          <a:blip r:embed="rId1"/>
          <a:srcRect l="0" t="7425" r="2234" b="0"/>
          <a:stretch/>
        </p:blipFill>
        <p:spPr>
          <a:xfrm>
            <a:off x="1735560" y="1196640"/>
            <a:ext cx="3057120" cy="2010240"/>
          </a:xfrm>
          <a:prstGeom prst="rect">
            <a:avLst/>
          </a:prstGeom>
          <a:ln w="0">
            <a:noFill/>
          </a:ln>
        </p:spPr>
      </p:pic>
      <p:sp>
        <p:nvSpPr>
          <p:cNvPr id="76" name="ZoneTexte 3"/>
          <p:cNvSpPr/>
          <p:nvPr/>
        </p:nvSpPr>
        <p:spPr>
          <a:xfrm>
            <a:off x="6752880" y="5517360"/>
            <a:ext cx="2259360" cy="80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Red: red form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Black: bleached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Magenta: D1 (with rates k</a:t>
            </a:r>
            <a:r>
              <a:rPr b="0" lang="fr-FR" sz="1100" spc="-1" strike="noStrike" baseline="-25000">
                <a:solidFill>
                  <a:schemeClr val="dk1"/>
                </a:solidFill>
                <a:latin typeface="Calibri"/>
              </a:rPr>
              <a:t>1,1</a:t>
            </a: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 and k</a:t>
            </a:r>
            <a:r>
              <a:rPr b="0" lang="fr-FR" sz="1100" spc="-1" strike="noStrike" baseline="-25000">
                <a:solidFill>
                  <a:schemeClr val="dk1"/>
                </a:solidFill>
                <a:latin typeface="Calibri"/>
              </a:rPr>
              <a:t>-1,1</a:t>
            </a: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Orange: D2 (with rates k</a:t>
            </a:r>
            <a:r>
              <a:rPr b="0" lang="fr-FR" sz="1100" spc="-1" strike="noStrike" baseline="-25000">
                <a:solidFill>
                  <a:schemeClr val="dk1"/>
                </a:solidFill>
                <a:latin typeface="Calibri"/>
              </a:rPr>
              <a:t>1,2</a:t>
            </a: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 and k</a:t>
            </a:r>
            <a:r>
              <a:rPr b="0" lang="fr-FR" sz="1100" spc="-1" strike="noStrike" baseline="-25000">
                <a:solidFill>
                  <a:schemeClr val="dk1"/>
                </a:solidFill>
                <a:latin typeface="Calibri"/>
              </a:rPr>
              <a:t>-1,2</a:t>
            </a: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8" descr="\\SCIENCE2\ibs-equipe-bourgeois-sc2\Daniel\mEos4b_red_data\mEos4b_fitting_model.png"/>
          <p:cNvPicPr/>
          <p:nvPr/>
        </p:nvPicPr>
        <p:blipFill>
          <a:blip r:embed="rId2"/>
          <a:stretch/>
        </p:blipFill>
        <p:spPr>
          <a:xfrm>
            <a:off x="445680" y="4233960"/>
            <a:ext cx="2043360" cy="198468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9" descr="\\SCIENCE4\exp-plateforme-m4d\PALM\DANIEL\170803\PROCESSING\Exp6_fit.png"/>
          <p:cNvPicPr/>
          <p:nvPr/>
        </p:nvPicPr>
        <p:blipFill>
          <a:blip r:embed="rId3"/>
          <a:srcRect l="5041" t="5098" r="8147" b="0"/>
          <a:stretch/>
        </p:blipFill>
        <p:spPr>
          <a:xfrm>
            <a:off x="2887200" y="4233960"/>
            <a:ext cx="3810960" cy="2292840"/>
          </a:xfrm>
          <a:prstGeom prst="rect">
            <a:avLst/>
          </a:prstGeom>
          <a:ln w="0">
            <a:noFill/>
          </a:ln>
        </p:spPr>
      </p:pic>
      <p:sp>
        <p:nvSpPr>
          <p:cNvPr id="79" name="Rectangle 4"/>
          <p:cNvSpPr/>
          <p:nvPr/>
        </p:nvSpPr>
        <p:spPr>
          <a:xfrm>
            <a:off x="2977560" y="3844800"/>
            <a:ext cx="1803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Example of fit: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67640" y="44640"/>
            <a:ext cx="8229240" cy="7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Bulk experiments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79640" y="692640"/>
            <a:ext cx="8712720" cy="590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Fitted rate constants (s</a:t>
            </a:r>
            <a:r>
              <a:rPr b="0" lang="fr-FR" sz="1600" spc="-1" strike="noStrike" baseline="30000">
                <a:solidFill>
                  <a:schemeClr val="dk1"/>
                </a:solidFill>
                <a:latin typeface="Calibri"/>
              </a:rPr>
              <a:t>-1</a:t>
            </a:r>
            <a:r>
              <a:rPr b="0" lang="fr-FR" sz="1600" spc="-1" strike="noStrike">
                <a:solidFill>
                  <a:schemeClr val="dk1"/>
                </a:solidFill>
                <a:latin typeface="Calibri"/>
              </a:rPr>
              <a:t>):</a:t>
            </a:r>
            <a:endParaRPr b="0" lang="fr-FR" sz="16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2" name="Tableau 5"/>
          <p:cNvGraphicFramePr/>
          <p:nvPr/>
        </p:nvGraphicFramePr>
        <p:xfrm>
          <a:off x="251640" y="1124640"/>
          <a:ext cx="2615760" cy="952200"/>
        </p:xfrm>
        <a:graphic>
          <a:graphicData uri="http://schemas.openxmlformats.org/drawingml/2006/table">
            <a:tbl>
              <a:tblPr/>
              <a:tblGrid>
                <a:gridCol w="1155600"/>
                <a:gridCol w="825480"/>
                <a:gridCol w="634680"/>
              </a:tblGrid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Laser power (µW)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Mean k-1, 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SD k-1, 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0,063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0,011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81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0,037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0,002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40,5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0,025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0,003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14,5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0,013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0,001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Graphique 9"/>
          <p:cNvGraphicFramePr/>
          <p:nvPr/>
        </p:nvGraphicFramePr>
        <p:xfrm>
          <a:off x="251640" y="2133000"/>
          <a:ext cx="4571640" cy="2742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4" name="ZoneTexte 6"/>
          <p:cNvSpPr/>
          <p:nvPr/>
        </p:nvSpPr>
        <p:spPr>
          <a:xfrm>
            <a:off x="2988000" y="1114920"/>
            <a:ext cx="6048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Laser power is much lower than in single-molecule, otherwise the decay is too short to be fitted properly.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ZoneTexte 7"/>
          <p:cNvSpPr/>
          <p:nvPr/>
        </p:nvSpPr>
        <p:spPr>
          <a:xfrm>
            <a:off x="4798440" y="2637000"/>
            <a:ext cx="2337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Power dependence seems ok.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6" name="Tableau 12"/>
          <p:cNvGraphicFramePr/>
          <p:nvPr/>
        </p:nvGraphicFramePr>
        <p:xfrm>
          <a:off x="5264640" y="3357000"/>
          <a:ext cx="1917360" cy="1297440"/>
        </p:xfrm>
        <a:graphic>
          <a:graphicData uri="http://schemas.openxmlformats.org/drawingml/2006/table">
            <a:tbl>
              <a:tblPr/>
              <a:tblGrid>
                <a:gridCol w="1155600"/>
                <a:gridCol w="761760"/>
              </a:tblGrid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endParaRPr b="1" lang="fr-FR" sz="11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Mean lifetime (s)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Laser power (µW)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81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40,5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14,5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7640" y="44640"/>
            <a:ext cx="8229240" cy="7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422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Coherence between bulk and single-molecule experiments</a:t>
            </a:r>
            <a:endParaRPr b="0" lang="fr-FR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23640" y="764640"/>
            <a:ext cx="8496720" cy="590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Single-molecule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Mean k</a:t>
            </a:r>
            <a:r>
              <a:rPr b="0" lang="fr-FR" sz="1400" spc="-1" strike="noStrike" baseline="-25000">
                <a:solidFill>
                  <a:schemeClr val="dk1"/>
                </a:solidFill>
                <a:latin typeface="Calibri"/>
              </a:rPr>
              <a:t>-1,1 </a:t>
            </a: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(thermal): 13,6 s</a:t>
            </a:r>
            <a:r>
              <a:rPr b="0" lang="fr-FR" sz="1400" spc="-1" strike="noStrike" baseline="30000">
                <a:solidFill>
                  <a:schemeClr val="dk1"/>
                </a:solidFill>
                <a:latin typeface="Calibri"/>
              </a:rPr>
              <a:t>-1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After correction of bulk rates for laser power: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There is roughly a factor 10 between k</a:t>
            </a:r>
            <a:r>
              <a:rPr b="0" lang="fr-FR" sz="1400" spc="-1" strike="noStrike" baseline="-25000">
                <a:solidFill>
                  <a:schemeClr val="dk1"/>
                </a:solidFill>
                <a:latin typeface="Calibri"/>
              </a:rPr>
              <a:t>-1, 2 </a:t>
            </a: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determined in single-molecule and in ensemble.</a:t>
            </a: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endParaRPr b="0" lang="fr-FR" sz="1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22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I think single-molecule experiments are very sensitive to the signal-to-noise ratio, whereas it’s not so important in bulk experiments. This might explain the difference in k</a:t>
            </a:r>
            <a:r>
              <a:rPr b="0" lang="fr-FR" sz="1100" spc="-1" strike="noStrike" baseline="-25000">
                <a:solidFill>
                  <a:schemeClr val="dk1"/>
                </a:solidFill>
                <a:latin typeface="Calibri"/>
              </a:rPr>
              <a:t>-1,2</a:t>
            </a: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? In which case, the rates determined in bulk measurement would be more reliable than in single-molecule.</a:t>
            </a:r>
            <a:endParaRPr b="0" lang="fr-FR" sz="1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21"/>
              </a:spcBef>
              <a:buNone/>
              <a:tabLst>
                <a:tab algn="l" pos="0"/>
              </a:tabLst>
            </a:pPr>
            <a:endParaRPr b="0" lang="fr-FR" sz="11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22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fr-FR" sz="1100" spc="-1" strike="noStrike">
                <a:solidFill>
                  <a:schemeClr val="dk1"/>
                </a:solidFill>
                <a:latin typeface="Calibri"/>
              </a:rPr>
              <a:t>Second hypothesis is that the rate does not evolve linearly anymore if laser power is too low, but I see no reason for this?</a:t>
            </a:r>
            <a:endParaRPr b="0" lang="fr-FR" sz="1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fr-FR" sz="1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9" name="Tableau 6"/>
          <p:cNvGraphicFramePr/>
          <p:nvPr/>
        </p:nvGraphicFramePr>
        <p:xfrm>
          <a:off x="539640" y="1196640"/>
          <a:ext cx="2679480" cy="761760"/>
        </p:xfrm>
        <a:graphic>
          <a:graphicData uri="http://schemas.openxmlformats.org/drawingml/2006/table">
            <a:tbl>
              <a:tblPr/>
              <a:tblGrid>
                <a:gridCol w="1155600"/>
                <a:gridCol w="761760"/>
                <a:gridCol w="761760"/>
              </a:tblGrid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Laser power (mW)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Mean k-1, 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Mean k-1, 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15,4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13,7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0,74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7,9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12,2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0,55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15,0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0,33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0" name="Espace réservé du contenu 2"/>
          <p:cNvSpPr/>
          <p:nvPr/>
        </p:nvSpPr>
        <p:spPr>
          <a:xfrm>
            <a:off x="4644000" y="764640"/>
            <a:ext cx="4330440" cy="59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3080" indent="-343080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Bulk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81"/>
              </a:spcBef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81"/>
              </a:spcBef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81"/>
              </a:spcBef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fr-FR" sz="1400" spc="-1" strike="noStrike" baseline="-25000">
                <a:solidFill>
                  <a:schemeClr val="dk1"/>
                </a:solidFill>
                <a:latin typeface="Calibri"/>
              </a:rPr>
              <a:t>-1,1</a:t>
            </a:r>
            <a:r>
              <a:rPr b="0" lang="fr-FR" sz="1400" spc="-1" strike="noStrike">
                <a:solidFill>
                  <a:schemeClr val="dk1"/>
                </a:solidFill>
                <a:latin typeface="Calibri"/>
              </a:rPr>
              <a:t> fixed to 13,6 for fitting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1" name="Tableau 5"/>
          <p:cNvGraphicFramePr/>
          <p:nvPr/>
        </p:nvGraphicFramePr>
        <p:xfrm>
          <a:off x="4644000" y="1124640"/>
          <a:ext cx="1980720" cy="952200"/>
        </p:xfrm>
        <a:graphic>
          <a:graphicData uri="http://schemas.openxmlformats.org/drawingml/2006/table">
            <a:tbl>
              <a:tblPr/>
              <a:tblGrid>
                <a:gridCol w="1155600"/>
                <a:gridCol w="825480"/>
              </a:tblGrid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Laser power (µW)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Mean k-1, 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0,063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81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0,037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40,5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0,025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90440"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14,5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0,013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Tableau 3"/>
          <p:cNvGraphicFramePr/>
          <p:nvPr/>
        </p:nvGraphicFramePr>
        <p:xfrm>
          <a:off x="467640" y="2925000"/>
          <a:ext cx="4176000" cy="1689120"/>
        </p:xfrm>
        <a:graphic>
          <a:graphicData uri="http://schemas.openxmlformats.org/drawingml/2006/table">
            <a:tbl>
              <a:tblPr/>
              <a:tblGrid>
                <a:gridCol w="835200"/>
                <a:gridCol w="835200"/>
                <a:gridCol w="835200"/>
                <a:gridCol w="835200"/>
                <a:gridCol w="835200"/>
              </a:tblGrid>
              <a:tr h="270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Laser power (mW)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k-1, 1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Single-mol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k-1, 2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Single-mol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k-1, 1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Bulk (fixed)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k-1, 2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fr-FR" sz="11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Bulk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70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15,4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13,7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0,74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13,6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6,14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270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7,9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12,2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0,55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13,6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3,61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270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3,9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15,0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0,33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13,6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2,41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270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1,5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ND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ND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13,6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1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1,30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93" name="Connecteur droit avec flèche 7"/>
          <p:cNvCxnSpPr/>
          <p:nvPr/>
        </p:nvCxnSpPr>
        <p:spPr>
          <a:xfrm>
            <a:off x="2915640" y="2204640"/>
            <a:ext cx="172872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7232</TotalTime>
  <Application>LibreOffice/24.2.7.2$Linux_X86_64 LibreOffice_project/420$Build-2</Application>
  <AppVersion>15.0000</AppVersion>
  <Words>581</Words>
  <Paragraphs>231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2017-08-17T14:22:00Z</dcterms:created>
  <dc:creator>Daniel Thédié</dc:creator>
  <dc:description/>
  <dc:language>en-US</dc:language>
  <cp:lastModifiedBy/>
  <dcterms:modified xsi:type="dcterms:W3CDTF">2025-09-16T09:46:25Z</dcterms:modified>
  <cp:revision>40</cp:revision>
  <dc:subject/>
  <dc:title>Single-molecule and bulk experiments  mEos4b red 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Affichage à l'écran (4:3)</vt:lpwstr>
  </property>
  <property fmtid="{D5CDD505-2E9C-101B-9397-08002B2CF9AE}" pid="3" name="Slides">
    <vt:i4>7</vt:i4>
  </property>
</Properties>
</file>