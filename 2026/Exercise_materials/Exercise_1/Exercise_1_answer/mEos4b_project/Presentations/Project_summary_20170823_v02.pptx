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4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84" y="-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SCIENCE2\ibs-equipe-bourgeois-sc2\Daniel\mEos4b_red_data\Ensemble_decay_rate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SCIENCE2\ibs-equipe-bourgeois-sc2\Daniel\mEos4b_red_data\Ensemble_decay_rate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SCIENCE2\ibs-equipe-bourgeois-sc2\Daniel\mEos4b_red_data\Ensemble_decay_rat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fr-FR"/>
              <a:t>k</a:t>
            </a:r>
            <a:r>
              <a:rPr lang="fr-FR" baseline="-25000"/>
              <a:t>-1, 2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trendline>
            <c:trendlineType val="linear"/>
            <c:dispRSqr val="1"/>
            <c:dispEq val="0"/>
            <c:trendlineLbl>
              <c:layout>
                <c:manualLayout>
                  <c:x val="0.1870479002624672"/>
                  <c:y val="-8.0657626130067068E-3"/>
                </c:manualLayout>
              </c:layout>
              <c:numFmt formatCode="General" sourceLinked="0"/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'170803'!$P$54:$P$57</c:f>
                <c:numCache>
                  <c:formatCode>General</c:formatCode>
                  <c:ptCount val="4"/>
                  <c:pt idx="0">
                    <c:v>1.0969655114602893E-2</c:v>
                  </c:pt>
                  <c:pt idx="1">
                    <c:v>1.5275252316519481E-3</c:v>
                  </c:pt>
                  <c:pt idx="2">
                    <c:v>3.0000000000000009E-3</c:v>
                  </c:pt>
                  <c:pt idx="3">
                    <c:v>5.7735026918962525E-4</c:v>
                  </c:pt>
                </c:numCache>
              </c:numRef>
            </c:plus>
            <c:minus>
              <c:numRef>
                <c:f>'170803'!$P$54:$P$57</c:f>
                <c:numCache>
                  <c:formatCode>General</c:formatCode>
                  <c:ptCount val="4"/>
                  <c:pt idx="0">
                    <c:v>1.0969655114602893E-2</c:v>
                  </c:pt>
                  <c:pt idx="1">
                    <c:v>1.5275252316519481E-3</c:v>
                  </c:pt>
                  <c:pt idx="2">
                    <c:v>3.0000000000000009E-3</c:v>
                  </c:pt>
                  <c:pt idx="3">
                    <c:v>5.7735026918962525E-4</c:v>
                  </c:pt>
                </c:numCache>
              </c:numRef>
            </c:minus>
          </c:errBars>
          <c:xVal>
            <c:numRef>
              <c:f>'170803'!$J$54:$J$57</c:f>
              <c:numCache>
                <c:formatCode>General</c:formatCode>
                <c:ptCount val="4"/>
                <c:pt idx="0">
                  <c:v>158</c:v>
                </c:pt>
                <c:pt idx="1">
                  <c:v>81</c:v>
                </c:pt>
                <c:pt idx="2">
                  <c:v>40.5</c:v>
                </c:pt>
                <c:pt idx="3">
                  <c:v>14.5</c:v>
                </c:pt>
              </c:numCache>
            </c:numRef>
          </c:xVal>
          <c:yVal>
            <c:numRef>
              <c:f>'170803'!$O$54:$O$57</c:f>
              <c:numCache>
                <c:formatCode>0.000</c:formatCode>
                <c:ptCount val="4"/>
                <c:pt idx="0">
                  <c:v>6.3333333333333339E-2</c:v>
                </c:pt>
                <c:pt idx="1">
                  <c:v>3.7333333333333329E-2</c:v>
                </c:pt>
                <c:pt idx="2">
                  <c:v>2.4999999999999998E-2</c:v>
                </c:pt>
                <c:pt idx="3">
                  <c:v>1.2666666666666666E-2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6599552"/>
        <c:axId val="106601088"/>
      </c:scatterChart>
      <c:valAx>
        <c:axId val="1065995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6601088"/>
        <c:crosses val="autoZero"/>
        <c:crossBetween val="midCat"/>
      </c:valAx>
      <c:valAx>
        <c:axId val="106601088"/>
        <c:scaling>
          <c:orientation val="minMax"/>
        </c:scaling>
        <c:delete val="0"/>
        <c:axPos val="l"/>
        <c:majorGridlines/>
        <c:numFmt formatCode="0.000" sourceLinked="1"/>
        <c:majorTickMark val="out"/>
        <c:minorTickMark val="none"/>
        <c:tickLblPos val="nextTo"/>
        <c:crossAx val="10659955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fr-FR" dirty="0" smtClean="0"/>
              <a:t>k-1, 1</a:t>
            </a:r>
            <a:endParaRPr lang="fr-FR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trendline>
            <c:trendlineType val="linear"/>
            <c:dispRSqr val="1"/>
            <c:dispEq val="0"/>
            <c:trendlineLbl>
              <c:layout>
                <c:manualLayout>
                  <c:x val="0.23223252971892011"/>
                  <c:y val="5.4526348924193606E-2"/>
                </c:manualLayout>
              </c:layout>
              <c:numFmt formatCode="General" sourceLinked="0"/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Green!$K$3:$K$5</c:f>
                <c:numCache>
                  <c:formatCode>General</c:formatCode>
                  <c:ptCount val="3"/>
                  <c:pt idx="0">
                    <c:v>2.081665999466133E-3</c:v>
                  </c:pt>
                  <c:pt idx="1">
                    <c:v>5.7735026918962623E-4</c:v>
                  </c:pt>
                  <c:pt idx="2">
                    <c:v>3.4641016151377535E-4</c:v>
                  </c:pt>
                </c:numCache>
              </c:numRef>
            </c:plus>
            <c:minus>
              <c:numRef>
                <c:f>Green!$K$3:$K$5</c:f>
                <c:numCache>
                  <c:formatCode>General</c:formatCode>
                  <c:ptCount val="3"/>
                  <c:pt idx="0">
                    <c:v>2.081665999466133E-3</c:v>
                  </c:pt>
                  <c:pt idx="1">
                    <c:v>5.7735026918962623E-4</c:v>
                  </c:pt>
                  <c:pt idx="2">
                    <c:v>3.4641016151377535E-4</c:v>
                  </c:pt>
                </c:numCache>
              </c:numRef>
            </c:minus>
          </c:errBars>
          <c:xVal>
            <c:numRef>
              <c:f>Green!$I$3:$I$5</c:f>
              <c:numCache>
                <c:formatCode>General</c:formatCode>
                <c:ptCount val="3"/>
                <c:pt idx="0">
                  <c:v>165</c:v>
                </c:pt>
                <c:pt idx="1">
                  <c:v>85</c:v>
                </c:pt>
                <c:pt idx="2">
                  <c:v>44</c:v>
                </c:pt>
              </c:numCache>
            </c:numRef>
          </c:xVal>
          <c:yVal>
            <c:numRef>
              <c:f>Green!$J$3:$J$5</c:f>
              <c:numCache>
                <c:formatCode>0.000</c:formatCode>
                <c:ptCount val="3"/>
                <c:pt idx="0">
                  <c:v>2.4333333333333332E-2</c:v>
                </c:pt>
                <c:pt idx="1">
                  <c:v>1.5333333333333332E-2</c:v>
                </c:pt>
                <c:pt idx="2">
                  <c:v>8.3000000000000001E-3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13120"/>
        <c:axId val="107819008"/>
      </c:scatterChart>
      <c:valAx>
        <c:axId val="107813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7819008"/>
        <c:crosses val="autoZero"/>
        <c:crossBetween val="midCat"/>
      </c:valAx>
      <c:valAx>
        <c:axId val="107819008"/>
        <c:scaling>
          <c:orientation val="minMax"/>
        </c:scaling>
        <c:delete val="0"/>
        <c:axPos val="l"/>
        <c:majorGridlines/>
        <c:numFmt formatCode="0.000" sourceLinked="1"/>
        <c:majorTickMark val="out"/>
        <c:minorTickMark val="none"/>
        <c:tickLblPos val="nextTo"/>
        <c:crossAx val="107813120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fr-FR" dirty="0" smtClean="0"/>
              <a:t>k-1, 2</a:t>
            </a:r>
            <a:endParaRPr lang="fr-FR" dirty="0"/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trendline>
            <c:trendlineType val="linear"/>
            <c:dispRSqr val="1"/>
            <c:dispEq val="0"/>
            <c:trendlineLbl>
              <c:layout>
                <c:manualLayout>
                  <c:x val="0.21903710985864222"/>
                  <c:y val="5.1411340098013798E-2"/>
                </c:manualLayout>
              </c:layout>
              <c:numFmt formatCode="General" sourceLinked="0"/>
            </c:trendlineLbl>
          </c:trendline>
          <c:errBars>
            <c:errDir val="y"/>
            <c:errBarType val="both"/>
            <c:errValType val="cust"/>
            <c:noEndCap val="0"/>
            <c:plus>
              <c:numRef>
                <c:f>Green!$O$3:$O$5</c:f>
                <c:numCache>
                  <c:formatCode>General</c:formatCode>
                  <c:ptCount val="3"/>
                  <c:pt idx="0">
                    <c:v>0.29501412395567395</c:v>
                  </c:pt>
                  <c:pt idx="1">
                    <c:v>4.5825756949558386E-2</c:v>
                  </c:pt>
                  <c:pt idx="2">
                    <c:v>5.5075705472861516E-2</c:v>
                  </c:pt>
                </c:numCache>
              </c:numRef>
            </c:plus>
            <c:minus>
              <c:numRef>
                <c:f>Green!$O$3:$O$5</c:f>
                <c:numCache>
                  <c:formatCode>General</c:formatCode>
                  <c:ptCount val="3"/>
                  <c:pt idx="0">
                    <c:v>0.29501412395567395</c:v>
                  </c:pt>
                  <c:pt idx="1">
                    <c:v>4.5825756949558386E-2</c:v>
                  </c:pt>
                  <c:pt idx="2">
                    <c:v>5.5075705472861516E-2</c:v>
                  </c:pt>
                </c:numCache>
              </c:numRef>
            </c:minus>
          </c:errBars>
          <c:xVal>
            <c:numRef>
              <c:f>Green!$I$3:$I$5</c:f>
              <c:numCache>
                <c:formatCode>General</c:formatCode>
                <c:ptCount val="3"/>
                <c:pt idx="0">
                  <c:v>165</c:v>
                </c:pt>
                <c:pt idx="1">
                  <c:v>85</c:v>
                </c:pt>
                <c:pt idx="2">
                  <c:v>44</c:v>
                </c:pt>
              </c:numCache>
            </c:numRef>
          </c:xVal>
          <c:yVal>
            <c:numRef>
              <c:f>Green!$N$3:$N$5</c:f>
              <c:numCache>
                <c:formatCode>0.000</c:formatCode>
                <c:ptCount val="3"/>
                <c:pt idx="0">
                  <c:v>1.0033333333333332</c:v>
                </c:pt>
                <c:pt idx="1">
                  <c:v>0.56999999999999995</c:v>
                </c:pt>
                <c:pt idx="2">
                  <c:v>0.36333333333333329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48448"/>
        <c:axId val="107849984"/>
      </c:scatterChart>
      <c:valAx>
        <c:axId val="107848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7849984"/>
        <c:crosses val="autoZero"/>
        <c:crossBetween val="midCat"/>
      </c:valAx>
      <c:valAx>
        <c:axId val="107849984"/>
        <c:scaling>
          <c:orientation val="minMax"/>
        </c:scaling>
        <c:delete val="0"/>
        <c:axPos val="l"/>
        <c:majorGridlines/>
        <c:numFmt formatCode="0.000" sourceLinked="1"/>
        <c:majorTickMark val="out"/>
        <c:minorTickMark val="none"/>
        <c:tickLblPos val="nextTo"/>
        <c:crossAx val="107848448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47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32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47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92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132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52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45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385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61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21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540BA-E9CC-4601-8A73-844E3FEBE68E}" type="datetimeFigureOut">
              <a:rPr lang="fr-FR" smtClean="0"/>
              <a:t>28/08/2017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D4DA2-CCAF-4A9B-BA0C-9EB21E1E70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41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Single-</a:t>
            </a:r>
            <a:r>
              <a:rPr lang="fr-FR" dirty="0" err="1" smtClean="0"/>
              <a:t>molecule</a:t>
            </a:r>
            <a:r>
              <a:rPr lang="fr-FR" dirty="0" smtClean="0"/>
              <a:t> and </a:t>
            </a:r>
            <a:r>
              <a:rPr lang="fr-FR" dirty="0" err="1" smtClean="0"/>
              <a:t>bulk</a:t>
            </a:r>
            <a:r>
              <a:rPr lang="fr-FR" dirty="0" smtClean="0"/>
              <a:t> </a:t>
            </a:r>
            <a:r>
              <a:rPr lang="fr-FR" dirty="0" err="1" smtClean="0"/>
              <a:t>experiments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mEos4b </a:t>
            </a:r>
            <a:r>
              <a:rPr lang="fr-FR" dirty="0" err="1" smtClean="0"/>
              <a:t>red</a:t>
            </a:r>
            <a:r>
              <a:rPr lang="fr-FR" dirty="0" smtClean="0"/>
              <a:t> </a:t>
            </a:r>
            <a:r>
              <a:rPr lang="fr-FR" dirty="0" err="1" smtClean="0"/>
              <a:t>form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 smtClean="0"/>
          </a:p>
          <a:p>
            <a:r>
              <a:rPr lang="fr-FR" dirty="0" smtClean="0"/>
              <a:t>23/08/2017</a:t>
            </a:r>
          </a:p>
        </p:txBody>
      </p:sp>
    </p:spTree>
    <p:extLst>
      <p:ext uri="{BB962C8B-B14F-4D97-AF65-F5344CB8AC3E}">
        <p14:creationId xmlns:p14="http://schemas.microsoft.com/office/powerpoint/2010/main" val="411347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720080"/>
          </a:xfrm>
        </p:spPr>
        <p:txBody>
          <a:bodyPr>
            <a:normAutofit/>
          </a:bodyPr>
          <a:lstStyle/>
          <a:p>
            <a:r>
              <a:rPr lang="fr-FR" sz="2800" dirty="0" smtClean="0"/>
              <a:t>Single-</a:t>
            </a:r>
            <a:r>
              <a:rPr lang="fr-FR" sz="2800" dirty="0" err="1" smtClean="0"/>
              <a:t>molecule</a:t>
            </a:r>
            <a:r>
              <a:rPr lang="fr-FR" sz="2800" dirty="0" smtClean="0"/>
              <a:t> </a:t>
            </a:r>
            <a:r>
              <a:rPr lang="fr-FR" sz="2800" dirty="0" err="1" smtClean="0"/>
              <a:t>experiments</a:t>
            </a:r>
            <a:endParaRPr lang="fr-FR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4704"/>
                <a:ext cx="8229600" cy="5904656"/>
              </a:xfrm>
            </p:spPr>
            <p:txBody>
              <a:bodyPr>
                <a:normAutofit/>
              </a:bodyPr>
              <a:lstStyle/>
              <a:p>
                <a:r>
                  <a:rPr lang="fr-FR" sz="1600" dirty="0" smtClean="0"/>
                  <a:t>Fitting </a:t>
                </a:r>
                <a:r>
                  <a:rPr lang="fr-FR" sz="1600" dirty="0" err="1" smtClean="0"/>
                  <a:t>with</a:t>
                </a:r>
                <a:r>
                  <a:rPr lang="fr-FR" sz="1600" dirty="0" smtClean="0"/>
                  <a:t> a model of the </a:t>
                </a:r>
                <a:r>
                  <a:rPr lang="fr-FR" sz="1600" dirty="0" err="1" smtClean="0"/>
                  <a:t>form</a:t>
                </a:r>
                <a:r>
                  <a:rPr lang="fr-FR" sz="1600" dirty="0" smtClean="0"/>
                  <a:t>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/>
                      </a:rPr>
                      <m:t>𝑦</m:t>
                    </m:r>
                    <m:r>
                      <a:rPr lang="fr-FR" sz="1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fr-FR" sz="1600" b="0" i="1" smtClean="0">
                        <a:latin typeface="Cambria Math"/>
                      </a:rPr>
                      <m:t>.</m:t>
                    </m:r>
                    <m:sSup>
                      <m:sSupPr>
                        <m:ctrlPr>
                          <a:rPr lang="fr-FR" sz="16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fr-FR" sz="16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/>
                              </a:rPr>
                              <m:t>−1,1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/>
                          </a:rPr>
                          <m:t>𝑡</m:t>
                        </m:r>
                      </m:sup>
                    </m:sSup>
                    <m:r>
                      <a:rPr lang="fr-FR" sz="16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fr-FR" sz="1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fr-FR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fr-FR" sz="1600" b="0" i="1" smtClean="0">
                        <a:latin typeface="Cambria Math"/>
                      </a:rPr>
                      <m:t>.</m:t>
                    </m:r>
                    <m:sSup>
                      <m:sSupPr>
                        <m:ctrlPr>
                          <a:rPr lang="fr-FR" sz="16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fr-FR" sz="16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/>
                              </a:rPr>
                              <m:t>−1,2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endParaRPr lang="fr-FR" sz="1600" dirty="0" smtClean="0"/>
              </a:p>
              <a:p>
                <a:endParaRPr lang="fr-FR" sz="1600" dirty="0"/>
              </a:p>
              <a:p>
                <a:r>
                  <a:rPr lang="fr-FR" sz="1600" dirty="0" err="1" smtClean="0"/>
                  <a:t>Example</a:t>
                </a:r>
                <a:r>
                  <a:rPr lang="fr-FR" sz="1600" dirty="0" smtClean="0"/>
                  <a:t> of fit: </a:t>
                </a:r>
              </a:p>
              <a:p>
                <a:endParaRPr lang="fr-FR" sz="1600" dirty="0"/>
              </a:p>
              <a:p>
                <a:endParaRPr lang="fr-FR" sz="1600" dirty="0" smtClean="0"/>
              </a:p>
              <a:p>
                <a:endParaRPr lang="fr-FR" sz="1600" dirty="0"/>
              </a:p>
              <a:p>
                <a:endParaRPr lang="fr-FR" sz="1600" dirty="0" smtClean="0"/>
              </a:p>
              <a:p>
                <a:endParaRPr lang="fr-FR" sz="1600" dirty="0"/>
              </a:p>
              <a:p>
                <a:endParaRPr lang="fr-FR" sz="1600" dirty="0" smtClean="0"/>
              </a:p>
              <a:p>
                <a:endParaRPr lang="fr-FR" sz="1600" dirty="0"/>
              </a:p>
              <a:p>
                <a:r>
                  <a:rPr lang="fr-FR" sz="1600" dirty="0" err="1" smtClean="0"/>
                  <a:t>Fitted</a:t>
                </a:r>
                <a:r>
                  <a:rPr lang="fr-FR" sz="1600" dirty="0" smtClean="0"/>
                  <a:t> rate constants (s</a:t>
                </a:r>
                <a:r>
                  <a:rPr lang="fr-FR" sz="1600" baseline="30000" dirty="0" smtClean="0"/>
                  <a:t>-1</a:t>
                </a:r>
                <a:r>
                  <a:rPr lang="fr-FR" sz="1600" dirty="0" smtClean="0"/>
                  <a:t>):</a:t>
                </a:r>
              </a:p>
              <a:p>
                <a:endParaRPr lang="fr-FR" sz="1600" dirty="0"/>
              </a:p>
              <a:p>
                <a:endParaRPr lang="fr-FR" sz="1600" dirty="0" smtClean="0"/>
              </a:p>
              <a:p>
                <a:pPr marL="0" indent="0">
                  <a:buNone/>
                </a:pPr>
                <a:endParaRPr lang="fr-FR" sz="1600" dirty="0" smtClean="0"/>
              </a:p>
              <a:p>
                <a:r>
                  <a:rPr lang="fr-FR" sz="1600" dirty="0" smtClean="0"/>
                  <a:t>k</a:t>
                </a:r>
                <a:r>
                  <a:rPr lang="fr-FR" sz="1600" baseline="-25000" dirty="0" smtClean="0"/>
                  <a:t>-1,1</a:t>
                </a:r>
                <a:r>
                  <a:rPr lang="fr-FR" sz="1600" dirty="0" smtClean="0"/>
                  <a:t> </a:t>
                </a:r>
                <a:r>
                  <a:rPr lang="fr-FR" sz="1600" dirty="0" err="1" smtClean="0"/>
                  <a:t>seems</a:t>
                </a:r>
                <a:r>
                  <a:rPr lang="fr-FR" sz="1600" dirty="0" smtClean="0"/>
                  <a:t> </a:t>
                </a:r>
                <a:r>
                  <a:rPr lang="fr-FR" sz="1600" dirty="0" err="1" smtClean="0"/>
                  <a:t>independent</a:t>
                </a:r>
                <a:r>
                  <a:rPr lang="fr-FR" sz="1600" dirty="0" smtClean="0"/>
                  <a:t> </a:t>
                </a:r>
                <a:r>
                  <a:rPr lang="fr-FR" sz="1600" dirty="0" err="1" smtClean="0"/>
                  <a:t>from</a:t>
                </a:r>
                <a:r>
                  <a:rPr lang="fr-FR" sz="1600" dirty="0" smtClean="0"/>
                  <a:t> laser power (thermal return </a:t>
                </a:r>
                <a:r>
                  <a:rPr lang="fr-FR" sz="1600" dirty="0" err="1" smtClean="0"/>
                  <a:t>from</a:t>
                </a:r>
                <a:r>
                  <a:rPr lang="fr-FR" sz="1600" dirty="0" smtClean="0"/>
                  <a:t> the </a:t>
                </a:r>
                <a:r>
                  <a:rPr lang="fr-FR" sz="1600" dirty="0" err="1" smtClean="0"/>
                  <a:t>dark</a:t>
                </a:r>
                <a:r>
                  <a:rPr lang="fr-FR" sz="1600" dirty="0" smtClean="0"/>
                  <a:t> state) </a:t>
                </a:r>
                <a:r>
                  <a:rPr lang="fr-FR" sz="1600" dirty="0" err="1" smtClean="0"/>
                  <a:t>while</a:t>
                </a:r>
                <a:r>
                  <a:rPr lang="fr-FR" sz="1600" dirty="0" smtClean="0"/>
                  <a:t> k</a:t>
                </a:r>
                <a:r>
                  <a:rPr lang="fr-FR" sz="1600" baseline="-25000" dirty="0" smtClean="0"/>
                  <a:t>-1,2</a:t>
                </a:r>
                <a:r>
                  <a:rPr lang="fr-FR" sz="1600" dirty="0" smtClean="0"/>
                  <a:t> </a:t>
                </a:r>
                <a:r>
                  <a:rPr lang="fr-FR" sz="1600" dirty="0" err="1" smtClean="0"/>
                  <a:t>evolves</a:t>
                </a:r>
                <a:r>
                  <a:rPr lang="fr-FR" sz="1600" dirty="0" smtClean="0"/>
                  <a:t> </a:t>
                </a:r>
                <a:r>
                  <a:rPr lang="fr-FR" sz="1600" dirty="0" err="1" smtClean="0"/>
                  <a:t>rather</a:t>
                </a:r>
                <a:r>
                  <a:rPr lang="fr-FR" sz="1600" dirty="0" smtClean="0"/>
                  <a:t> </a:t>
                </a:r>
                <a:r>
                  <a:rPr lang="fr-FR" sz="1600" dirty="0" err="1" smtClean="0"/>
                  <a:t>linearly</a:t>
                </a:r>
                <a:r>
                  <a:rPr lang="fr-FR" sz="1600" dirty="0" smtClean="0"/>
                  <a:t> </a:t>
                </a:r>
                <a:r>
                  <a:rPr lang="fr-FR" sz="1600" dirty="0" err="1" smtClean="0"/>
                  <a:t>with</a:t>
                </a:r>
                <a:r>
                  <a:rPr lang="fr-FR" sz="1600" dirty="0" smtClean="0"/>
                  <a:t> laser power.</a:t>
                </a:r>
              </a:p>
              <a:p>
                <a:endParaRPr lang="fr-FR" sz="1600" dirty="0" smtClean="0"/>
              </a:p>
              <a:p>
                <a:r>
                  <a:rPr lang="fr-FR" sz="1600" dirty="0" err="1" smtClean="0"/>
                  <a:t>Mean</a:t>
                </a:r>
                <a:r>
                  <a:rPr lang="fr-FR" sz="1600" dirty="0" smtClean="0"/>
                  <a:t> </a:t>
                </a:r>
                <a:r>
                  <a:rPr lang="fr-FR" sz="1600" dirty="0" err="1" smtClean="0"/>
                  <a:t>dark</a:t>
                </a:r>
                <a:r>
                  <a:rPr lang="fr-FR" sz="1600" dirty="0" smtClean="0"/>
                  <a:t>-states </a:t>
                </a:r>
                <a:r>
                  <a:rPr lang="fr-FR" sz="1600" dirty="0" err="1" smtClean="0"/>
                  <a:t>lifetimes</a:t>
                </a:r>
                <a:r>
                  <a:rPr lang="fr-FR" sz="1600" dirty="0" smtClean="0"/>
                  <a:t> are </a:t>
                </a:r>
                <a:r>
                  <a:rPr lang="fr-FR" sz="1600" dirty="0" err="1" smtClean="0"/>
                  <a:t>calculated</a:t>
                </a:r>
                <a:r>
                  <a:rPr lang="fr-FR" sz="1600" dirty="0" smtClean="0"/>
                  <a:t> as 1/k</a:t>
                </a:r>
                <a:r>
                  <a:rPr lang="fr-FR" sz="1600" baseline="-25000" dirty="0" smtClean="0"/>
                  <a:t>-1</a:t>
                </a:r>
                <a:r>
                  <a:rPr lang="fr-FR" sz="1600" dirty="0" smtClean="0"/>
                  <a:t>.</a:t>
                </a:r>
                <a:endParaRPr lang="fr-FR" sz="1600" baseline="-25000" dirty="0" smtClean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4704"/>
                <a:ext cx="8229600" cy="5904656"/>
              </a:xfrm>
              <a:blipFill rotWithShape="1">
                <a:blip r:embed="rId2"/>
                <a:stretch>
                  <a:fillRect l="-222" t="-20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\\SCIENCE4\exp-plateforme-m4d\PALM\DANIEL\170817\SM_processing\Plot_Off_Times_fit_Exp1_T1.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268760"/>
            <a:ext cx="3264363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151231"/>
              </p:ext>
            </p:extLst>
          </p:nvPr>
        </p:nvGraphicFramePr>
        <p:xfrm>
          <a:off x="539552" y="4077072"/>
          <a:ext cx="42037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700"/>
                <a:gridCol w="762000"/>
                <a:gridCol w="762000"/>
                <a:gridCol w="762000"/>
                <a:gridCol w="7620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Laser power (mW)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effectLst/>
                        </a:rPr>
                        <a:t>Mean</a:t>
                      </a:r>
                      <a:r>
                        <a:rPr lang="fr-FR" sz="1100" b="1" u="none" strike="noStrike" dirty="0">
                          <a:effectLst/>
                        </a:rPr>
                        <a:t> k-1, 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SD k-1, 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effectLst/>
                        </a:rPr>
                        <a:t>Mean</a:t>
                      </a:r>
                      <a:r>
                        <a:rPr lang="fr-FR" sz="1100" b="1" u="none" strike="noStrike" dirty="0">
                          <a:effectLst/>
                        </a:rPr>
                        <a:t> k-1, 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SD k-1, 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15,4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13,7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1,3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0,74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7,9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12,2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0,55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0,12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3,9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15,0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2,0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0,33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0,00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546686"/>
              </p:ext>
            </p:extLst>
          </p:nvPr>
        </p:nvGraphicFramePr>
        <p:xfrm>
          <a:off x="4932040" y="3861048"/>
          <a:ext cx="2679700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700"/>
                <a:gridCol w="762000"/>
                <a:gridCol w="7620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>
                          <a:effectLst/>
                        </a:rPr>
                        <a:t>Mean lifetimes (s)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Laser power (mW)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D1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D2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15,4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1,4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7,9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1,8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3,9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3,0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284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720080"/>
          </a:xfrm>
        </p:spPr>
        <p:txBody>
          <a:bodyPr>
            <a:normAutofit/>
          </a:bodyPr>
          <a:lstStyle/>
          <a:p>
            <a:r>
              <a:rPr lang="fr-FR" sz="2800" dirty="0" err="1" smtClean="0"/>
              <a:t>Bulk</a:t>
            </a:r>
            <a:r>
              <a:rPr lang="fr-FR" sz="2800" dirty="0" smtClean="0"/>
              <a:t> </a:t>
            </a:r>
            <a:r>
              <a:rPr lang="fr-FR" sz="2800" dirty="0" err="1" smtClean="0"/>
              <a:t>experiments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3384376"/>
          </a:xfrm>
        </p:spPr>
        <p:txBody>
          <a:bodyPr>
            <a:normAutofit/>
          </a:bodyPr>
          <a:lstStyle/>
          <a:p>
            <a:r>
              <a:rPr lang="fr-FR" sz="1600" dirty="0" err="1" smtClean="0"/>
              <a:t>Experimental</a:t>
            </a:r>
            <a:r>
              <a:rPr lang="fr-FR" sz="1600" dirty="0" smtClean="0"/>
              <a:t> </a:t>
            </a:r>
            <a:r>
              <a:rPr lang="fr-FR" sz="1600" dirty="0" err="1" smtClean="0"/>
              <a:t>procedure</a:t>
            </a:r>
            <a:r>
              <a:rPr lang="fr-FR" sz="1600" dirty="0" smtClean="0"/>
              <a:t>: fluorescence </a:t>
            </a:r>
            <a:r>
              <a:rPr lang="fr-FR" sz="1600" dirty="0" err="1" smtClean="0"/>
              <a:t>readout</a:t>
            </a:r>
            <a:r>
              <a:rPr lang="fr-FR" sz="1600" dirty="0" smtClean="0"/>
              <a:t> and </a:t>
            </a:r>
            <a:r>
              <a:rPr lang="fr-FR" sz="1600" dirty="0" err="1" smtClean="0"/>
              <a:t>actinic</a:t>
            </a:r>
            <a:r>
              <a:rPr lang="fr-FR" sz="1600" dirty="0" smtClean="0"/>
              <a:t> 405- or 561-nm light are </a:t>
            </a:r>
            <a:r>
              <a:rPr lang="fr-FR" sz="1600" dirty="0" err="1" smtClean="0"/>
              <a:t>applied</a:t>
            </a:r>
            <a:r>
              <a:rPr lang="fr-FR" sz="1600" dirty="0" smtClean="0"/>
              <a:t> </a:t>
            </a:r>
            <a:r>
              <a:rPr lang="fr-FR" sz="1600" dirty="0" err="1" smtClean="0"/>
              <a:t>separately</a:t>
            </a:r>
            <a:r>
              <a:rPr lang="fr-FR" sz="1600" dirty="0" smtClean="0"/>
              <a:t>:</a:t>
            </a:r>
          </a:p>
          <a:p>
            <a:endParaRPr lang="fr-FR" sz="1600" dirty="0" smtClean="0"/>
          </a:p>
          <a:p>
            <a:endParaRPr lang="fr-FR" sz="1600" dirty="0"/>
          </a:p>
          <a:p>
            <a:endParaRPr lang="fr-FR" sz="1600" dirty="0" smtClean="0"/>
          </a:p>
          <a:p>
            <a:endParaRPr lang="fr-FR" sz="1600" dirty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r>
              <a:rPr lang="fr-FR" sz="1600" dirty="0" err="1" smtClean="0"/>
              <a:t>Fitting</a:t>
            </a:r>
            <a:r>
              <a:rPr lang="fr-FR" sz="1600" dirty="0" smtClean="0"/>
              <a:t> </a:t>
            </a:r>
            <a:r>
              <a:rPr lang="fr-FR" sz="1600" dirty="0" err="1" smtClean="0"/>
              <a:t>with</a:t>
            </a:r>
            <a:r>
              <a:rPr lang="fr-FR" sz="1600" dirty="0" smtClean="0"/>
              <a:t> a </a:t>
            </a:r>
            <a:r>
              <a:rPr lang="fr-FR" sz="1600" dirty="0" err="1" smtClean="0"/>
              <a:t>kinetic</a:t>
            </a:r>
            <a:r>
              <a:rPr lang="fr-FR" sz="1600" dirty="0" smtClean="0"/>
              <a:t> model: (k</a:t>
            </a:r>
            <a:r>
              <a:rPr lang="fr-FR" sz="1600" baseline="-25000" dirty="0" smtClean="0"/>
              <a:t>-1,1</a:t>
            </a:r>
            <a:r>
              <a:rPr lang="fr-FR" sz="1600" dirty="0" smtClean="0"/>
              <a:t> </a:t>
            </a:r>
            <a:r>
              <a:rPr lang="fr-FR" sz="1600" dirty="0" err="1" smtClean="0"/>
              <a:t>is</a:t>
            </a:r>
            <a:r>
              <a:rPr lang="fr-FR" sz="1600" dirty="0" smtClean="0"/>
              <a:t> </a:t>
            </a:r>
            <a:r>
              <a:rPr lang="fr-FR" sz="1600" dirty="0" err="1" smtClean="0"/>
              <a:t>fixed</a:t>
            </a:r>
            <a:r>
              <a:rPr lang="fr-FR" sz="1600" dirty="0" smtClean="0"/>
              <a:t> to the </a:t>
            </a:r>
            <a:r>
              <a:rPr lang="fr-FR" sz="1600" dirty="0" err="1" smtClean="0"/>
              <a:t>mean</a:t>
            </a:r>
            <a:r>
              <a:rPr lang="fr-FR" sz="1600" dirty="0" smtClean="0"/>
              <a:t> value of single-</a:t>
            </a:r>
            <a:r>
              <a:rPr lang="fr-FR" sz="1600" dirty="0" err="1" smtClean="0"/>
              <a:t>molecule</a:t>
            </a:r>
            <a:r>
              <a:rPr lang="fr-FR" sz="1600" dirty="0" smtClean="0"/>
              <a:t> </a:t>
            </a:r>
            <a:r>
              <a:rPr lang="fr-FR" sz="1600" dirty="0" err="1" smtClean="0"/>
              <a:t>experiments</a:t>
            </a:r>
            <a:r>
              <a:rPr lang="fr-FR" sz="1600" dirty="0" smtClean="0"/>
              <a:t>)</a:t>
            </a:r>
          </a:p>
        </p:txBody>
      </p:sp>
      <p:pic>
        <p:nvPicPr>
          <p:cNvPr id="2053" name="Picture 5" descr="\\SCIENCE2\ibs-equipe-bourgeois-sc2\DOMINIQUE\DANIEL\mEOS2_green_figures\Numbered_figures\Figure_S1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6" r="2232"/>
          <a:stretch/>
        </p:blipFill>
        <p:spPr bwMode="auto">
          <a:xfrm>
            <a:off x="1735503" y="1196752"/>
            <a:ext cx="3057521" cy="201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6698736" y="5517232"/>
            <a:ext cx="2367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 smtClean="0"/>
              <a:t>Red</a:t>
            </a:r>
            <a:r>
              <a:rPr lang="fr-FR" sz="1100" dirty="0" smtClean="0"/>
              <a:t>: </a:t>
            </a:r>
            <a:r>
              <a:rPr lang="fr-FR" sz="1100" dirty="0" err="1" smtClean="0"/>
              <a:t>red</a:t>
            </a:r>
            <a:r>
              <a:rPr lang="fr-FR" sz="1100" dirty="0" smtClean="0"/>
              <a:t> </a:t>
            </a:r>
            <a:r>
              <a:rPr lang="fr-FR" sz="1100" dirty="0" err="1" smtClean="0"/>
              <a:t>form</a:t>
            </a:r>
            <a:endParaRPr lang="fr-FR" sz="1100" dirty="0" smtClean="0"/>
          </a:p>
          <a:p>
            <a:r>
              <a:rPr lang="fr-FR" sz="1100" dirty="0" smtClean="0"/>
              <a:t>Black: </a:t>
            </a:r>
            <a:r>
              <a:rPr lang="fr-FR" sz="1100" dirty="0" err="1" smtClean="0"/>
              <a:t>bleached</a:t>
            </a:r>
            <a:endParaRPr lang="fr-FR" sz="1100" dirty="0" smtClean="0"/>
          </a:p>
          <a:p>
            <a:r>
              <a:rPr lang="fr-FR" sz="1100" dirty="0" smtClean="0"/>
              <a:t>Magenta: D1 (</a:t>
            </a:r>
            <a:r>
              <a:rPr lang="fr-FR" sz="1100" dirty="0" err="1" smtClean="0"/>
              <a:t>with</a:t>
            </a:r>
            <a:r>
              <a:rPr lang="fr-FR" sz="1100" dirty="0" smtClean="0"/>
              <a:t> rates k</a:t>
            </a:r>
            <a:r>
              <a:rPr lang="fr-FR" sz="1100" baseline="-25000" dirty="0" smtClean="0"/>
              <a:t>1,1</a:t>
            </a:r>
            <a:r>
              <a:rPr lang="fr-FR" sz="1100" dirty="0" smtClean="0"/>
              <a:t> and k</a:t>
            </a:r>
            <a:r>
              <a:rPr lang="fr-FR" sz="1100" baseline="-25000" dirty="0" smtClean="0"/>
              <a:t>-1,1</a:t>
            </a:r>
            <a:r>
              <a:rPr lang="fr-FR" sz="1100" dirty="0" smtClean="0"/>
              <a:t>)</a:t>
            </a:r>
          </a:p>
          <a:p>
            <a:r>
              <a:rPr lang="fr-FR" sz="1100" dirty="0" smtClean="0"/>
              <a:t>Orange: D2 (</a:t>
            </a:r>
            <a:r>
              <a:rPr lang="fr-FR" sz="1100" dirty="0" err="1" smtClean="0"/>
              <a:t>with</a:t>
            </a:r>
            <a:r>
              <a:rPr lang="fr-FR" sz="1100" dirty="0" smtClean="0"/>
              <a:t> rates k</a:t>
            </a:r>
            <a:r>
              <a:rPr lang="fr-FR" sz="1100" baseline="-25000" dirty="0" smtClean="0"/>
              <a:t>1,2</a:t>
            </a:r>
            <a:r>
              <a:rPr lang="fr-FR" sz="1100" dirty="0" smtClean="0"/>
              <a:t> and k</a:t>
            </a:r>
            <a:r>
              <a:rPr lang="fr-FR" sz="1100" baseline="-25000" dirty="0" smtClean="0"/>
              <a:t>-1,2</a:t>
            </a:r>
            <a:r>
              <a:rPr lang="fr-FR" sz="1100" dirty="0" smtClean="0"/>
              <a:t>)</a:t>
            </a:r>
            <a:endParaRPr lang="fr-FR" sz="1100" dirty="0"/>
          </a:p>
        </p:txBody>
      </p:sp>
      <p:pic>
        <p:nvPicPr>
          <p:cNvPr id="2056" name="Picture 8" descr="\\SCIENCE2\ibs-equipe-bourgeois-sc2\Daniel\mEos4b_red_data\mEos4b_fitting_model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30" y="4234117"/>
            <a:ext cx="2043559" cy="198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\\SCIENCE4\exp-plateforme-m4d\PALM\DANIEL\170803\PROCESSING\Exp6_fit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9" t="5099" r="8148"/>
          <a:stretch/>
        </p:blipFill>
        <p:spPr bwMode="auto">
          <a:xfrm>
            <a:off x="2887312" y="4234117"/>
            <a:ext cx="3811424" cy="229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966242" y="3844890"/>
            <a:ext cx="1826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fr-FR" dirty="0" err="1" smtClean="0"/>
              <a:t>Example</a:t>
            </a:r>
            <a:r>
              <a:rPr lang="fr-FR" dirty="0" smtClean="0"/>
              <a:t> of fit:</a:t>
            </a:r>
          </a:p>
        </p:txBody>
      </p:sp>
    </p:spTree>
    <p:extLst>
      <p:ext uri="{BB962C8B-B14F-4D97-AF65-F5344CB8AC3E}">
        <p14:creationId xmlns:p14="http://schemas.microsoft.com/office/powerpoint/2010/main" val="3593686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720080"/>
          </a:xfrm>
        </p:spPr>
        <p:txBody>
          <a:bodyPr>
            <a:normAutofit/>
          </a:bodyPr>
          <a:lstStyle/>
          <a:p>
            <a:r>
              <a:rPr lang="fr-FR" sz="2800" dirty="0" err="1" smtClean="0"/>
              <a:t>Bulk</a:t>
            </a:r>
            <a:r>
              <a:rPr lang="fr-FR" sz="2800" dirty="0" smtClean="0"/>
              <a:t> </a:t>
            </a:r>
            <a:r>
              <a:rPr lang="fr-FR" sz="2800" dirty="0" err="1" smtClean="0"/>
              <a:t>experiments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904656"/>
          </a:xfrm>
        </p:spPr>
        <p:txBody>
          <a:bodyPr>
            <a:normAutofit/>
          </a:bodyPr>
          <a:lstStyle/>
          <a:p>
            <a:r>
              <a:rPr lang="fr-FR" sz="1600" dirty="0" err="1" smtClean="0"/>
              <a:t>Fitted</a:t>
            </a:r>
            <a:r>
              <a:rPr lang="fr-FR" sz="1600" dirty="0" smtClean="0"/>
              <a:t> rate constants (s</a:t>
            </a:r>
            <a:r>
              <a:rPr lang="fr-FR" sz="1600" baseline="30000" dirty="0" smtClean="0"/>
              <a:t>-1</a:t>
            </a:r>
            <a:r>
              <a:rPr lang="fr-FR" sz="1600" dirty="0"/>
              <a:t>):</a:t>
            </a:r>
            <a:endParaRPr lang="fr-FR" sz="1600" dirty="0" smtClean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032639"/>
              </p:ext>
            </p:extLst>
          </p:nvPr>
        </p:nvGraphicFramePr>
        <p:xfrm>
          <a:off x="251520" y="1124744"/>
          <a:ext cx="2616200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700"/>
                <a:gridCol w="825500"/>
                <a:gridCol w="6350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Laser power (µW)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effectLst/>
                        </a:rPr>
                        <a:t>Mean</a:t>
                      </a:r>
                      <a:r>
                        <a:rPr lang="fr-FR" sz="1100" b="1" u="none" strike="noStrike" dirty="0">
                          <a:effectLst/>
                        </a:rPr>
                        <a:t> </a:t>
                      </a:r>
                      <a:r>
                        <a:rPr lang="fr-FR" sz="1100" b="1" u="none" strike="noStrike" baseline="0" dirty="0" smtClean="0">
                          <a:effectLst/>
                        </a:rPr>
                        <a:t>k-1, 2</a:t>
                      </a:r>
                      <a:endParaRPr lang="fr-FR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SD </a:t>
                      </a:r>
                      <a:r>
                        <a:rPr lang="fr-FR" sz="1100" b="1" u="none" strike="noStrike" baseline="0" dirty="0" smtClean="0">
                          <a:effectLst/>
                        </a:rPr>
                        <a:t>k-1, 2</a:t>
                      </a:r>
                      <a:endParaRPr lang="fr-FR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158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0,063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0,011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0,037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0,002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40,5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0,003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14,5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0,013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0,001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10" name="Graphique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409442"/>
              </p:ext>
            </p:extLst>
          </p:nvPr>
        </p:nvGraphicFramePr>
        <p:xfrm>
          <a:off x="251520" y="213285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2987824" y="1114871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Laser power </a:t>
            </a:r>
            <a:r>
              <a:rPr lang="fr-FR" sz="1400" dirty="0" err="1" smtClean="0"/>
              <a:t>is</a:t>
            </a:r>
            <a:r>
              <a:rPr lang="fr-FR" sz="1400" dirty="0" smtClean="0"/>
              <a:t> </a:t>
            </a:r>
            <a:r>
              <a:rPr lang="fr-FR" sz="1400" dirty="0" err="1" smtClean="0"/>
              <a:t>much</a:t>
            </a:r>
            <a:r>
              <a:rPr lang="fr-FR" sz="1400" dirty="0" smtClean="0"/>
              <a:t> </a:t>
            </a:r>
            <a:r>
              <a:rPr lang="fr-FR" sz="1400" dirty="0" err="1" smtClean="0"/>
              <a:t>lower</a:t>
            </a:r>
            <a:r>
              <a:rPr lang="fr-FR" sz="1400" dirty="0" smtClean="0"/>
              <a:t> </a:t>
            </a:r>
            <a:r>
              <a:rPr lang="fr-FR" sz="1400" dirty="0" err="1" smtClean="0"/>
              <a:t>than</a:t>
            </a:r>
            <a:r>
              <a:rPr lang="fr-FR" sz="1400" dirty="0" smtClean="0"/>
              <a:t> in single-</a:t>
            </a:r>
            <a:r>
              <a:rPr lang="fr-FR" sz="1400" dirty="0" err="1" smtClean="0"/>
              <a:t>molecule</a:t>
            </a:r>
            <a:r>
              <a:rPr lang="fr-FR" sz="1400" dirty="0" smtClean="0"/>
              <a:t>, </a:t>
            </a:r>
            <a:r>
              <a:rPr lang="fr-FR" sz="1400" dirty="0" err="1" smtClean="0"/>
              <a:t>otherwise</a:t>
            </a:r>
            <a:r>
              <a:rPr lang="fr-FR" sz="1400" dirty="0" smtClean="0"/>
              <a:t> the </a:t>
            </a:r>
            <a:r>
              <a:rPr lang="fr-FR" sz="1400" dirty="0" err="1" smtClean="0"/>
              <a:t>decay</a:t>
            </a:r>
            <a:r>
              <a:rPr lang="fr-FR" sz="1400" dirty="0" smtClean="0"/>
              <a:t> </a:t>
            </a:r>
            <a:r>
              <a:rPr lang="fr-FR" sz="1400" dirty="0" err="1" smtClean="0"/>
              <a:t>is</a:t>
            </a:r>
            <a:r>
              <a:rPr lang="fr-FR" sz="1400" dirty="0" smtClean="0"/>
              <a:t> </a:t>
            </a:r>
            <a:r>
              <a:rPr lang="fr-FR" sz="1400" dirty="0" err="1" smtClean="0"/>
              <a:t>too</a:t>
            </a:r>
            <a:r>
              <a:rPr lang="fr-FR" sz="1400" dirty="0" smtClean="0"/>
              <a:t> short to </a:t>
            </a:r>
            <a:r>
              <a:rPr lang="fr-FR" sz="1400" dirty="0" err="1" smtClean="0"/>
              <a:t>be</a:t>
            </a:r>
            <a:r>
              <a:rPr lang="fr-FR" sz="1400" dirty="0" smtClean="0"/>
              <a:t> </a:t>
            </a:r>
            <a:r>
              <a:rPr lang="fr-FR" sz="1400" dirty="0" err="1" smtClean="0"/>
              <a:t>fitted</a:t>
            </a:r>
            <a:r>
              <a:rPr lang="fr-FR" sz="1400" dirty="0" smtClean="0"/>
              <a:t> </a:t>
            </a:r>
            <a:r>
              <a:rPr lang="fr-FR" sz="1400" dirty="0" err="1" smtClean="0"/>
              <a:t>properly</a:t>
            </a:r>
            <a:r>
              <a:rPr lang="fr-FR" sz="1400" dirty="0" smtClean="0"/>
              <a:t>.</a:t>
            </a:r>
            <a:endParaRPr lang="fr-FR" sz="1400" dirty="0"/>
          </a:p>
        </p:txBody>
      </p:sp>
      <p:sp>
        <p:nvSpPr>
          <p:cNvPr id="8" name="ZoneTexte 7"/>
          <p:cNvSpPr txBox="1"/>
          <p:nvPr/>
        </p:nvSpPr>
        <p:spPr>
          <a:xfrm>
            <a:off x="4788024" y="2636912"/>
            <a:ext cx="2358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Power </a:t>
            </a:r>
            <a:r>
              <a:rPr lang="fr-FR" sz="1400" dirty="0" err="1" smtClean="0"/>
              <a:t>dependence</a:t>
            </a:r>
            <a:r>
              <a:rPr lang="fr-FR" sz="1400" dirty="0" smtClean="0"/>
              <a:t> </a:t>
            </a:r>
            <a:r>
              <a:rPr lang="fr-FR" sz="1400" dirty="0" err="1" smtClean="0"/>
              <a:t>seems</a:t>
            </a:r>
            <a:r>
              <a:rPr lang="fr-FR" sz="1400" dirty="0" smtClean="0"/>
              <a:t> ok.</a:t>
            </a:r>
            <a:endParaRPr lang="fr-FR" sz="1400" dirty="0"/>
          </a:p>
        </p:txBody>
      </p:sp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827088"/>
              </p:ext>
            </p:extLst>
          </p:nvPr>
        </p:nvGraphicFramePr>
        <p:xfrm>
          <a:off x="5264692" y="3356992"/>
          <a:ext cx="1917700" cy="1297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700"/>
                <a:gridCol w="7620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u="none" strike="noStrike" dirty="0" err="1">
                          <a:effectLst/>
                        </a:rPr>
                        <a:t>Mean</a:t>
                      </a:r>
                      <a:r>
                        <a:rPr lang="fr-FR" sz="1100" b="1" u="none" strike="noStrike" dirty="0">
                          <a:effectLst/>
                        </a:rPr>
                        <a:t> </a:t>
                      </a:r>
                      <a:r>
                        <a:rPr lang="fr-FR" sz="1100" b="1" u="none" strike="noStrike" dirty="0" err="1" smtClean="0">
                          <a:effectLst/>
                        </a:rPr>
                        <a:t>lifetime</a:t>
                      </a:r>
                      <a:r>
                        <a:rPr lang="fr-FR" sz="1100" b="1" u="none" strike="noStrike" dirty="0" smtClean="0">
                          <a:effectLst/>
                        </a:rPr>
                        <a:t> </a:t>
                      </a:r>
                      <a:r>
                        <a:rPr lang="fr-FR" sz="1100" b="1" u="none" strike="noStrike" dirty="0">
                          <a:effectLst/>
                        </a:rPr>
                        <a:t>(s)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Laser power </a:t>
                      </a:r>
                      <a:r>
                        <a:rPr lang="fr-FR" sz="1100" b="1" u="none" strike="noStrike" dirty="0" smtClean="0">
                          <a:effectLst/>
                        </a:rPr>
                        <a:t>(µW</a:t>
                      </a:r>
                      <a:r>
                        <a:rPr lang="fr-FR" sz="1100" b="1" u="none" strike="noStrike" dirty="0">
                          <a:effectLst/>
                        </a:rPr>
                        <a:t>)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D2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 smtClean="0">
                          <a:effectLst/>
                        </a:rPr>
                        <a:t>158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81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 smtClean="0">
                          <a:effectLst/>
                        </a:rPr>
                        <a:t>27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40,5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14,5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964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fr-FR" sz="2800" dirty="0" err="1" smtClean="0"/>
              <a:t>Coherence</a:t>
            </a:r>
            <a:r>
              <a:rPr lang="fr-FR" sz="2800" dirty="0" smtClean="0"/>
              <a:t> </a:t>
            </a:r>
            <a:r>
              <a:rPr lang="fr-FR" sz="2800" dirty="0" err="1" smtClean="0"/>
              <a:t>between</a:t>
            </a:r>
            <a:r>
              <a:rPr lang="fr-FR" sz="2800" dirty="0" smtClean="0"/>
              <a:t> </a:t>
            </a:r>
            <a:r>
              <a:rPr lang="fr-FR" sz="2800" dirty="0" err="1" smtClean="0"/>
              <a:t>bulk</a:t>
            </a:r>
            <a:r>
              <a:rPr lang="fr-FR" sz="2800" dirty="0" smtClean="0"/>
              <a:t> and single-</a:t>
            </a:r>
            <a:r>
              <a:rPr lang="fr-FR" sz="2800" dirty="0" err="1" smtClean="0"/>
              <a:t>molecule</a:t>
            </a:r>
            <a:r>
              <a:rPr lang="fr-FR" sz="2800" dirty="0" smtClean="0"/>
              <a:t> </a:t>
            </a:r>
            <a:r>
              <a:rPr lang="fr-FR" sz="2800" dirty="0" err="1" smtClean="0"/>
              <a:t>experiments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</p:spPr>
        <p:txBody>
          <a:bodyPr>
            <a:normAutofit/>
          </a:bodyPr>
          <a:lstStyle/>
          <a:p>
            <a:r>
              <a:rPr lang="fr-FR" sz="1400" dirty="0" smtClean="0"/>
              <a:t>Single-</a:t>
            </a:r>
            <a:r>
              <a:rPr lang="fr-FR" sz="1400" dirty="0" err="1" smtClean="0"/>
              <a:t>molecule</a:t>
            </a:r>
            <a:endParaRPr lang="fr-FR" sz="1400" dirty="0" smtClean="0"/>
          </a:p>
          <a:p>
            <a:endParaRPr lang="fr-FR" sz="1400" dirty="0"/>
          </a:p>
          <a:p>
            <a:endParaRPr lang="fr-FR" sz="1400" dirty="0" smtClean="0"/>
          </a:p>
          <a:p>
            <a:endParaRPr lang="fr-FR" sz="1400" dirty="0"/>
          </a:p>
          <a:p>
            <a:endParaRPr lang="fr-FR" sz="1400" dirty="0" smtClean="0"/>
          </a:p>
          <a:p>
            <a:r>
              <a:rPr lang="fr-FR" sz="1400" dirty="0" err="1" smtClean="0"/>
              <a:t>Mean</a:t>
            </a:r>
            <a:r>
              <a:rPr lang="fr-FR" sz="1400" dirty="0" smtClean="0"/>
              <a:t> k</a:t>
            </a:r>
            <a:r>
              <a:rPr lang="fr-FR" sz="1400" baseline="-25000" dirty="0" smtClean="0"/>
              <a:t>-1,1 </a:t>
            </a:r>
            <a:r>
              <a:rPr lang="fr-FR" sz="1400" dirty="0" smtClean="0"/>
              <a:t>(thermal): 13,6 s</a:t>
            </a:r>
            <a:r>
              <a:rPr lang="fr-FR" sz="1400" baseline="30000" dirty="0" smtClean="0"/>
              <a:t>-1</a:t>
            </a:r>
          </a:p>
          <a:p>
            <a:endParaRPr lang="fr-FR" sz="1400" dirty="0"/>
          </a:p>
          <a:p>
            <a:r>
              <a:rPr lang="fr-FR" sz="1400" dirty="0" err="1" smtClean="0"/>
              <a:t>After</a:t>
            </a:r>
            <a:r>
              <a:rPr lang="fr-FR" sz="1400" dirty="0" smtClean="0"/>
              <a:t> correction of </a:t>
            </a:r>
            <a:r>
              <a:rPr lang="fr-FR" sz="1400" dirty="0" err="1" smtClean="0"/>
              <a:t>bulk</a:t>
            </a:r>
            <a:r>
              <a:rPr lang="fr-FR" sz="1400" dirty="0" smtClean="0"/>
              <a:t> rates for laser power:</a:t>
            </a:r>
          </a:p>
          <a:p>
            <a:endParaRPr lang="fr-FR" sz="1400" dirty="0"/>
          </a:p>
          <a:p>
            <a:endParaRPr lang="fr-FR" sz="1400" dirty="0" smtClean="0"/>
          </a:p>
          <a:p>
            <a:endParaRPr lang="fr-FR" sz="1400" dirty="0"/>
          </a:p>
          <a:p>
            <a:endParaRPr lang="fr-FR" sz="1400" dirty="0" smtClean="0"/>
          </a:p>
          <a:p>
            <a:endParaRPr lang="fr-FR" sz="1400" dirty="0"/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endParaRPr lang="fr-FR" sz="1400" dirty="0" smtClean="0"/>
          </a:p>
          <a:p>
            <a:pPr marL="0" indent="0">
              <a:buNone/>
            </a:pPr>
            <a:endParaRPr lang="fr-FR" sz="1400" dirty="0" smtClean="0"/>
          </a:p>
          <a:p>
            <a:r>
              <a:rPr lang="fr-FR" sz="1400" dirty="0" smtClean="0"/>
              <a:t>There </a:t>
            </a:r>
            <a:r>
              <a:rPr lang="fr-FR" sz="1400" dirty="0" err="1" smtClean="0"/>
              <a:t>is</a:t>
            </a:r>
            <a:r>
              <a:rPr lang="fr-FR" sz="1400" dirty="0" smtClean="0"/>
              <a:t> </a:t>
            </a:r>
            <a:r>
              <a:rPr lang="fr-FR" sz="1400" dirty="0" err="1" smtClean="0"/>
              <a:t>roughly</a:t>
            </a:r>
            <a:r>
              <a:rPr lang="fr-FR" sz="1400" dirty="0" smtClean="0"/>
              <a:t> a factor 10 </a:t>
            </a:r>
            <a:r>
              <a:rPr lang="fr-FR" sz="1400" dirty="0" err="1" smtClean="0"/>
              <a:t>between</a:t>
            </a:r>
            <a:r>
              <a:rPr lang="fr-FR" sz="1400" dirty="0" smtClean="0"/>
              <a:t> k</a:t>
            </a:r>
            <a:r>
              <a:rPr lang="fr-FR" sz="1400" baseline="-25000" dirty="0" smtClean="0"/>
              <a:t>-1, 2 </a:t>
            </a:r>
            <a:r>
              <a:rPr lang="fr-FR" sz="1400" dirty="0" err="1" smtClean="0"/>
              <a:t>determined</a:t>
            </a:r>
            <a:r>
              <a:rPr lang="fr-FR" sz="1400" dirty="0" smtClean="0"/>
              <a:t> in single-</a:t>
            </a:r>
            <a:r>
              <a:rPr lang="fr-FR" sz="1400" dirty="0" err="1" smtClean="0"/>
              <a:t>molecule</a:t>
            </a:r>
            <a:r>
              <a:rPr lang="fr-FR" sz="1400" dirty="0" smtClean="0"/>
              <a:t> and in ensemble.</a:t>
            </a:r>
          </a:p>
          <a:p>
            <a:pPr lvl="1"/>
            <a:endParaRPr lang="fr-FR" sz="1200" dirty="0" smtClean="0"/>
          </a:p>
          <a:p>
            <a:pPr lvl="1"/>
            <a:r>
              <a:rPr lang="fr-FR" sz="1100" dirty="0" smtClean="0"/>
              <a:t>I </a:t>
            </a:r>
            <a:r>
              <a:rPr lang="fr-FR" sz="1100" dirty="0" err="1" smtClean="0"/>
              <a:t>think</a:t>
            </a:r>
            <a:r>
              <a:rPr lang="fr-FR" sz="1100" dirty="0" smtClean="0"/>
              <a:t> single-</a:t>
            </a:r>
            <a:r>
              <a:rPr lang="fr-FR" sz="1100" dirty="0" err="1" smtClean="0"/>
              <a:t>molecule</a:t>
            </a:r>
            <a:r>
              <a:rPr lang="fr-FR" sz="1100" dirty="0" smtClean="0"/>
              <a:t> </a:t>
            </a:r>
            <a:r>
              <a:rPr lang="fr-FR" sz="1100" dirty="0" err="1" smtClean="0"/>
              <a:t>experiments</a:t>
            </a:r>
            <a:r>
              <a:rPr lang="fr-FR" sz="1100" dirty="0" smtClean="0"/>
              <a:t> are </a:t>
            </a:r>
            <a:r>
              <a:rPr lang="fr-FR" sz="1100" dirty="0" err="1" smtClean="0"/>
              <a:t>very</a:t>
            </a:r>
            <a:r>
              <a:rPr lang="fr-FR" sz="1100" dirty="0" smtClean="0"/>
              <a:t> sensitive to the signal-to-noise ratio, </a:t>
            </a:r>
            <a:r>
              <a:rPr lang="fr-FR" sz="1100" dirty="0" err="1" smtClean="0"/>
              <a:t>whereas</a:t>
            </a:r>
            <a:r>
              <a:rPr lang="fr-FR" sz="1100" dirty="0" smtClean="0"/>
              <a:t> </a:t>
            </a:r>
            <a:r>
              <a:rPr lang="fr-FR" sz="1100" dirty="0" err="1" smtClean="0"/>
              <a:t>it’s</a:t>
            </a:r>
            <a:r>
              <a:rPr lang="fr-FR" sz="1100" dirty="0" smtClean="0"/>
              <a:t> not </a:t>
            </a:r>
            <a:r>
              <a:rPr lang="fr-FR" sz="1100" dirty="0" err="1" smtClean="0"/>
              <a:t>so</a:t>
            </a:r>
            <a:r>
              <a:rPr lang="fr-FR" sz="1100" dirty="0" smtClean="0"/>
              <a:t> important in </a:t>
            </a:r>
            <a:r>
              <a:rPr lang="fr-FR" sz="1100" dirty="0" err="1" smtClean="0"/>
              <a:t>bulk</a:t>
            </a:r>
            <a:r>
              <a:rPr lang="fr-FR" sz="1100" dirty="0" smtClean="0"/>
              <a:t> </a:t>
            </a:r>
            <a:r>
              <a:rPr lang="fr-FR" sz="1100" dirty="0" err="1" smtClean="0"/>
              <a:t>experiments</a:t>
            </a:r>
            <a:r>
              <a:rPr lang="fr-FR" sz="1100" dirty="0" smtClean="0"/>
              <a:t>. This </a:t>
            </a:r>
            <a:r>
              <a:rPr lang="fr-FR" sz="1100" dirty="0" err="1" smtClean="0"/>
              <a:t>might</a:t>
            </a:r>
            <a:r>
              <a:rPr lang="fr-FR" sz="1100" dirty="0" smtClean="0"/>
              <a:t> </a:t>
            </a:r>
            <a:r>
              <a:rPr lang="fr-FR" sz="1100" dirty="0" err="1" smtClean="0"/>
              <a:t>explain</a:t>
            </a:r>
            <a:r>
              <a:rPr lang="fr-FR" sz="1100" dirty="0" smtClean="0"/>
              <a:t> the </a:t>
            </a:r>
            <a:r>
              <a:rPr lang="fr-FR" sz="1100" dirty="0" err="1" smtClean="0"/>
              <a:t>difference</a:t>
            </a:r>
            <a:r>
              <a:rPr lang="fr-FR" sz="1100" dirty="0" smtClean="0"/>
              <a:t> in k</a:t>
            </a:r>
            <a:r>
              <a:rPr lang="fr-FR" sz="1100" baseline="-25000" dirty="0" smtClean="0"/>
              <a:t>-1,2</a:t>
            </a:r>
            <a:r>
              <a:rPr lang="fr-FR" sz="1100" dirty="0" smtClean="0"/>
              <a:t>? In </a:t>
            </a:r>
            <a:r>
              <a:rPr lang="fr-FR" sz="1100" dirty="0" err="1" smtClean="0"/>
              <a:t>which</a:t>
            </a:r>
            <a:r>
              <a:rPr lang="fr-FR" sz="1100" dirty="0" smtClean="0"/>
              <a:t> case, the rates </a:t>
            </a:r>
            <a:r>
              <a:rPr lang="fr-FR" sz="1100" dirty="0" err="1" smtClean="0"/>
              <a:t>determined</a:t>
            </a:r>
            <a:r>
              <a:rPr lang="fr-FR" sz="1100" dirty="0" smtClean="0"/>
              <a:t> in </a:t>
            </a:r>
            <a:r>
              <a:rPr lang="fr-FR" sz="1100" dirty="0" err="1" smtClean="0"/>
              <a:t>bulk</a:t>
            </a:r>
            <a:r>
              <a:rPr lang="fr-FR" sz="1100" dirty="0" smtClean="0"/>
              <a:t> </a:t>
            </a:r>
            <a:r>
              <a:rPr lang="fr-FR" sz="1100" dirty="0" err="1" smtClean="0"/>
              <a:t>measurement</a:t>
            </a:r>
            <a:r>
              <a:rPr lang="fr-FR" sz="1100" dirty="0" smtClean="0"/>
              <a:t> </a:t>
            </a:r>
            <a:r>
              <a:rPr lang="fr-FR" sz="1100" dirty="0" err="1" smtClean="0"/>
              <a:t>would</a:t>
            </a:r>
            <a:r>
              <a:rPr lang="fr-FR" sz="1100" dirty="0" smtClean="0"/>
              <a:t> </a:t>
            </a:r>
            <a:r>
              <a:rPr lang="fr-FR" sz="1100" dirty="0" err="1" smtClean="0"/>
              <a:t>be</a:t>
            </a:r>
            <a:r>
              <a:rPr lang="fr-FR" sz="1100" dirty="0" smtClean="0"/>
              <a:t> more </a:t>
            </a:r>
            <a:r>
              <a:rPr lang="fr-FR" sz="1100" dirty="0" err="1" smtClean="0"/>
              <a:t>reliable</a:t>
            </a:r>
            <a:r>
              <a:rPr lang="fr-FR" sz="1100" dirty="0" smtClean="0"/>
              <a:t> </a:t>
            </a:r>
            <a:r>
              <a:rPr lang="fr-FR" sz="1100" dirty="0" err="1" smtClean="0"/>
              <a:t>than</a:t>
            </a:r>
            <a:r>
              <a:rPr lang="fr-FR" sz="1100" dirty="0" smtClean="0"/>
              <a:t> in single-</a:t>
            </a:r>
            <a:r>
              <a:rPr lang="fr-FR" sz="1100" dirty="0" err="1" smtClean="0"/>
              <a:t>molecule</a:t>
            </a:r>
            <a:r>
              <a:rPr lang="fr-FR" sz="1100" dirty="0" smtClean="0"/>
              <a:t>.</a:t>
            </a:r>
          </a:p>
          <a:p>
            <a:pPr lvl="1"/>
            <a:endParaRPr lang="fr-FR" sz="1100" dirty="0"/>
          </a:p>
          <a:p>
            <a:pPr lvl="1"/>
            <a:r>
              <a:rPr lang="fr-FR" sz="1100" dirty="0" smtClean="0"/>
              <a:t>Second </a:t>
            </a:r>
            <a:r>
              <a:rPr lang="fr-FR" sz="1100" dirty="0" err="1" smtClean="0"/>
              <a:t>hypothesis</a:t>
            </a:r>
            <a:r>
              <a:rPr lang="fr-FR" sz="1100" dirty="0" smtClean="0"/>
              <a:t> </a:t>
            </a:r>
            <a:r>
              <a:rPr lang="fr-FR" sz="1100" dirty="0" err="1" smtClean="0"/>
              <a:t>is</a:t>
            </a:r>
            <a:r>
              <a:rPr lang="fr-FR" sz="1100" dirty="0" smtClean="0"/>
              <a:t> </a:t>
            </a:r>
            <a:r>
              <a:rPr lang="fr-FR" sz="1100" dirty="0" err="1" smtClean="0"/>
              <a:t>that</a:t>
            </a:r>
            <a:r>
              <a:rPr lang="fr-FR" sz="1100" dirty="0" smtClean="0"/>
              <a:t> the rate </a:t>
            </a:r>
            <a:r>
              <a:rPr lang="fr-FR" sz="1100" dirty="0" err="1" smtClean="0"/>
              <a:t>does</a:t>
            </a:r>
            <a:r>
              <a:rPr lang="fr-FR" sz="1100" dirty="0" smtClean="0"/>
              <a:t> not </a:t>
            </a:r>
            <a:r>
              <a:rPr lang="fr-FR" sz="1100" dirty="0" err="1" smtClean="0"/>
              <a:t>evolve</a:t>
            </a:r>
            <a:r>
              <a:rPr lang="fr-FR" sz="1100" dirty="0" smtClean="0"/>
              <a:t> </a:t>
            </a:r>
            <a:r>
              <a:rPr lang="fr-FR" sz="1100" dirty="0" err="1" smtClean="0"/>
              <a:t>linearly</a:t>
            </a:r>
            <a:r>
              <a:rPr lang="fr-FR" sz="1100" dirty="0" smtClean="0"/>
              <a:t> </a:t>
            </a:r>
            <a:r>
              <a:rPr lang="fr-FR" sz="1100" dirty="0" err="1" smtClean="0"/>
              <a:t>anymore</a:t>
            </a:r>
            <a:r>
              <a:rPr lang="fr-FR" sz="1100" dirty="0" smtClean="0"/>
              <a:t> if laser power </a:t>
            </a:r>
            <a:r>
              <a:rPr lang="fr-FR" sz="1100" dirty="0" err="1" smtClean="0"/>
              <a:t>is</a:t>
            </a:r>
            <a:r>
              <a:rPr lang="fr-FR" sz="1100" dirty="0" smtClean="0"/>
              <a:t> </a:t>
            </a:r>
            <a:r>
              <a:rPr lang="fr-FR" sz="1100" dirty="0" err="1" smtClean="0"/>
              <a:t>too</a:t>
            </a:r>
            <a:r>
              <a:rPr lang="fr-FR" sz="1100" dirty="0" smtClean="0"/>
              <a:t> </a:t>
            </a:r>
            <a:r>
              <a:rPr lang="fr-FR" sz="1100" dirty="0" err="1" smtClean="0"/>
              <a:t>low</a:t>
            </a:r>
            <a:r>
              <a:rPr lang="fr-FR" sz="1100" dirty="0" smtClean="0"/>
              <a:t>, but I </a:t>
            </a:r>
            <a:r>
              <a:rPr lang="fr-FR" sz="1100" dirty="0" err="1" smtClean="0"/>
              <a:t>see</a:t>
            </a:r>
            <a:r>
              <a:rPr lang="fr-FR" sz="1100" dirty="0" smtClean="0"/>
              <a:t> no </a:t>
            </a:r>
            <a:r>
              <a:rPr lang="fr-FR" sz="1100" dirty="0" err="1" smtClean="0"/>
              <a:t>reason</a:t>
            </a:r>
            <a:r>
              <a:rPr lang="fr-FR" sz="1100" dirty="0" smtClean="0"/>
              <a:t> for </a:t>
            </a:r>
            <a:r>
              <a:rPr lang="fr-FR" sz="1100" dirty="0" err="1" smtClean="0"/>
              <a:t>this</a:t>
            </a:r>
            <a:r>
              <a:rPr lang="fr-FR" sz="1100" dirty="0"/>
              <a:t>?</a:t>
            </a:r>
          </a:p>
          <a:p>
            <a:endParaRPr lang="fr-FR" sz="1400" dirty="0" smtClean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367882"/>
              </p:ext>
            </p:extLst>
          </p:nvPr>
        </p:nvGraphicFramePr>
        <p:xfrm>
          <a:off x="539552" y="1196752"/>
          <a:ext cx="26797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700"/>
                <a:gridCol w="762000"/>
                <a:gridCol w="7620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Laser power (mW)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effectLst/>
                        </a:rPr>
                        <a:t>Mean</a:t>
                      </a:r>
                      <a:r>
                        <a:rPr lang="fr-FR" sz="1100" b="1" u="none" strike="noStrike" dirty="0">
                          <a:effectLst/>
                        </a:rPr>
                        <a:t> k-1, 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effectLst/>
                        </a:rPr>
                        <a:t>Mean</a:t>
                      </a:r>
                      <a:r>
                        <a:rPr lang="fr-FR" sz="1100" b="1" u="none" strike="noStrike" dirty="0">
                          <a:effectLst/>
                        </a:rPr>
                        <a:t> k-1, 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15,4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13,7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0,74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7,9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12,2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0,55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3,9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15,0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0,33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9" name="Espace réservé du contenu 2"/>
          <p:cNvSpPr txBox="1">
            <a:spLocks/>
          </p:cNvSpPr>
          <p:nvPr/>
        </p:nvSpPr>
        <p:spPr>
          <a:xfrm>
            <a:off x="4644008" y="764704"/>
            <a:ext cx="4330824" cy="5904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 err="1" smtClean="0"/>
              <a:t>Bulk</a:t>
            </a:r>
            <a:endParaRPr lang="fr-FR" sz="1400" dirty="0" smtClean="0"/>
          </a:p>
          <a:p>
            <a:endParaRPr lang="fr-FR" sz="1400" dirty="0"/>
          </a:p>
          <a:p>
            <a:endParaRPr lang="fr-FR" sz="1400" dirty="0" smtClean="0"/>
          </a:p>
          <a:p>
            <a:endParaRPr lang="fr-FR" sz="1400" dirty="0"/>
          </a:p>
          <a:p>
            <a:pPr marL="0" indent="0">
              <a:buNone/>
            </a:pPr>
            <a:endParaRPr lang="fr-FR" sz="1400" dirty="0" smtClean="0"/>
          </a:p>
          <a:p>
            <a:r>
              <a:rPr lang="fr-FR" sz="1400" dirty="0" smtClean="0"/>
              <a:t>k</a:t>
            </a:r>
            <a:r>
              <a:rPr lang="fr-FR" sz="1400" baseline="-25000" dirty="0" smtClean="0"/>
              <a:t>-1,1</a:t>
            </a:r>
            <a:r>
              <a:rPr lang="fr-FR" sz="1400" dirty="0" smtClean="0"/>
              <a:t> </a:t>
            </a:r>
            <a:r>
              <a:rPr lang="fr-FR" sz="1400" dirty="0" err="1" smtClean="0"/>
              <a:t>fixed</a:t>
            </a:r>
            <a:r>
              <a:rPr lang="fr-FR" sz="1400" dirty="0" smtClean="0"/>
              <a:t> to 13,6 for </a:t>
            </a:r>
            <a:r>
              <a:rPr lang="fr-FR" sz="1400" dirty="0" err="1" smtClean="0"/>
              <a:t>fitting</a:t>
            </a:r>
            <a:endParaRPr lang="fr-FR" sz="1600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68207"/>
              </p:ext>
            </p:extLst>
          </p:nvPr>
        </p:nvGraphicFramePr>
        <p:xfrm>
          <a:off x="4644008" y="1124744"/>
          <a:ext cx="1981200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700"/>
                <a:gridCol w="8255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Laser power (µW)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effectLst/>
                        </a:rPr>
                        <a:t>Mean</a:t>
                      </a:r>
                      <a:r>
                        <a:rPr lang="fr-FR" sz="1100" b="1" u="none" strike="noStrike" dirty="0">
                          <a:effectLst/>
                        </a:rPr>
                        <a:t> </a:t>
                      </a:r>
                      <a:r>
                        <a:rPr lang="fr-FR" sz="1100" b="1" u="none" strike="noStrike" baseline="0" dirty="0" smtClean="0">
                          <a:effectLst/>
                        </a:rPr>
                        <a:t>k-1, 2</a:t>
                      </a:r>
                      <a:endParaRPr lang="fr-FR" sz="1100" b="1" i="0" u="none" strike="noStrike" baseline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158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0,063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0,037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40,5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0,025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14,5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0,013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904195"/>
              </p:ext>
            </p:extLst>
          </p:nvPr>
        </p:nvGraphicFramePr>
        <p:xfrm>
          <a:off x="467543" y="2924944"/>
          <a:ext cx="4176465" cy="167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293"/>
                <a:gridCol w="835293"/>
                <a:gridCol w="835293"/>
                <a:gridCol w="835293"/>
                <a:gridCol w="835293"/>
              </a:tblGrid>
              <a:tr h="270030"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Laser</a:t>
                      </a:r>
                      <a:r>
                        <a:rPr lang="fr-FR" sz="1100" baseline="0" dirty="0" smtClean="0"/>
                        <a:t> power </a:t>
                      </a:r>
                      <a:r>
                        <a:rPr lang="fr-FR" sz="1100" baseline="0" dirty="0" smtClean="0"/>
                        <a:t>(mW)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k-1,</a:t>
                      </a:r>
                      <a:r>
                        <a:rPr lang="fr-FR" sz="1100" baseline="0" dirty="0" smtClean="0"/>
                        <a:t> 1</a:t>
                      </a:r>
                    </a:p>
                    <a:p>
                      <a:r>
                        <a:rPr lang="fr-FR" sz="1100" baseline="0" dirty="0" smtClean="0"/>
                        <a:t>Single-mol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k-1,</a:t>
                      </a:r>
                      <a:r>
                        <a:rPr lang="fr-FR" sz="1100" baseline="0" dirty="0" smtClean="0"/>
                        <a:t> 2</a:t>
                      </a:r>
                    </a:p>
                    <a:p>
                      <a:r>
                        <a:rPr lang="fr-FR" sz="1100" baseline="0" dirty="0" smtClean="0"/>
                        <a:t>Single-mol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k-1,</a:t>
                      </a:r>
                      <a:r>
                        <a:rPr lang="fr-FR" sz="1100" baseline="0" dirty="0" smtClean="0"/>
                        <a:t> 1</a:t>
                      </a:r>
                    </a:p>
                    <a:p>
                      <a:r>
                        <a:rPr lang="fr-FR" sz="1100" baseline="0" dirty="0" err="1" smtClean="0"/>
                        <a:t>Bulk</a:t>
                      </a:r>
                      <a:r>
                        <a:rPr lang="fr-FR" sz="1100" baseline="0" dirty="0" smtClean="0"/>
                        <a:t> (</a:t>
                      </a:r>
                      <a:r>
                        <a:rPr lang="fr-FR" sz="1100" baseline="0" dirty="0" err="1" smtClean="0"/>
                        <a:t>fixed</a:t>
                      </a:r>
                      <a:r>
                        <a:rPr lang="fr-FR" sz="1100" baseline="0" dirty="0" smtClean="0"/>
                        <a:t>)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k-1,</a:t>
                      </a:r>
                      <a:r>
                        <a:rPr lang="fr-FR" sz="1100" baseline="0" dirty="0" smtClean="0"/>
                        <a:t> 2</a:t>
                      </a:r>
                    </a:p>
                    <a:p>
                      <a:r>
                        <a:rPr lang="fr-FR" sz="1100" baseline="0" dirty="0" err="1" smtClean="0"/>
                        <a:t>Bulk</a:t>
                      </a:r>
                      <a:endParaRPr lang="fr-FR" sz="1100" dirty="0"/>
                    </a:p>
                  </a:txBody>
                  <a:tcPr/>
                </a:tc>
              </a:tr>
              <a:tr h="270030"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15,4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13,7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0,74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13,6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6,14</a:t>
                      </a:r>
                      <a:endParaRPr lang="fr-FR" sz="1100" dirty="0"/>
                    </a:p>
                  </a:txBody>
                  <a:tcPr/>
                </a:tc>
              </a:tr>
              <a:tr h="270030"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7,9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12,2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0,55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13,6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3,61</a:t>
                      </a:r>
                    </a:p>
                  </a:txBody>
                  <a:tcPr/>
                </a:tc>
              </a:tr>
              <a:tr h="270030"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3,9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0,33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13,6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2,41</a:t>
                      </a:r>
                      <a:endParaRPr lang="fr-FR" sz="1100" dirty="0"/>
                    </a:p>
                  </a:txBody>
                  <a:tcPr/>
                </a:tc>
              </a:tr>
              <a:tr h="270030"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1,5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ND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13,6</a:t>
                      </a:r>
                      <a:endParaRPr lang="fr-F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smtClean="0"/>
                        <a:t>1,30</a:t>
                      </a:r>
                      <a:endParaRPr lang="fr-FR" sz="11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Connecteur droit avec flèche 7"/>
          <p:cNvCxnSpPr/>
          <p:nvPr/>
        </p:nvCxnSpPr>
        <p:spPr>
          <a:xfrm>
            <a:off x="2915816" y="2204864"/>
            <a:ext cx="172819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20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 smtClean="0"/>
              <a:t>Bulk</a:t>
            </a:r>
            <a:r>
              <a:rPr lang="fr-FR" dirty="0" smtClean="0"/>
              <a:t> </a:t>
            </a:r>
            <a:r>
              <a:rPr lang="fr-FR" dirty="0" err="1" smtClean="0"/>
              <a:t>experiments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mEos4b green </a:t>
            </a:r>
            <a:r>
              <a:rPr lang="fr-FR" dirty="0" err="1" smtClean="0"/>
              <a:t>form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0952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1183" y="-99392"/>
            <a:ext cx="8229600" cy="720080"/>
          </a:xfrm>
        </p:spPr>
        <p:txBody>
          <a:bodyPr>
            <a:normAutofit/>
          </a:bodyPr>
          <a:lstStyle/>
          <a:p>
            <a:r>
              <a:rPr lang="fr-FR" sz="2800" dirty="0" err="1" smtClean="0"/>
              <a:t>Bulk</a:t>
            </a:r>
            <a:r>
              <a:rPr lang="fr-FR" sz="2800" dirty="0" smtClean="0"/>
              <a:t> </a:t>
            </a:r>
            <a:r>
              <a:rPr lang="fr-FR" sz="2800" dirty="0" err="1" smtClean="0"/>
              <a:t>experiments</a:t>
            </a:r>
            <a:r>
              <a:rPr lang="fr-FR" sz="2800" dirty="0" smtClean="0"/>
              <a:t> (green mEos4b)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620688"/>
            <a:ext cx="8712968" cy="5760640"/>
          </a:xfrm>
        </p:spPr>
        <p:txBody>
          <a:bodyPr>
            <a:normAutofit/>
          </a:bodyPr>
          <a:lstStyle/>
          <a:p>
            <a:r>
              <a:rPr lang="fr-FR" sz="1600" dirty="0" smtClean="0"/>
              <a:t>Laser </a:t>
            </a:r>
            <a:r>
              <a:rPr lang="fr-FR" sz="1600" dirty="0" err="1" smtClean="0"/>
              <a:t>wavelength</a:t>
            </a:r>
            <a:r>
              <a:rPr lang="fr-FR" sz="1600" dirty="0" smtClean="0"/>
              <a:t>: 488 nm</a:t>
            </a:r>
            <a:endParaRPr lang="fr-FR" sz="1600" dirty="0"/>
          </a:p>
          <a:p>
            <a:r>
              <a:rPr lang="fr-FR" sz="1600" dirty="0" err="1" smtClean="0"/>
              <a:t>Fitted</a:t>
            </a:r>
            <a:r>
              <a:rPr lang="fr-FR" sz="1600" dirty="0" smtClean="0"/>
              <a:t> rate constants (s</a:t>
            </a:r>
            <a:r>
              <a:rPr lang="fr-FR" sz="1600" baseline="30000" dirty="0" smtClean="0"/>
              <a:t>-1</a:t>
            </a:r>
            <a:r>
              <a:rPr lang="fr-FR" sz="1600" dirty="0" smtClean="0"/>
              <a:t>):</a:t>
            </a:r>
          </a:p>
          <a:p>
            <a:endParaRPr lang="fr-FR" sz="1600" dirty="0"/>
          </a:p>
          <a:p>
            <a:endParaRPr lang="fr-FR" sz="1600" dirty="0" smtClean="0"/>
          </a:p>
          <a:p>
            <a:endParaRPr lang="fr-FR" sz="1600" dirty="0"/>
          </a:p>
          <a:p>
            <a:endParaRPr lang="fr-FR" sz="1600" dirty="0" smtClean="0"/>
          </a:p>
          <a:p>
            <a:endParaRPr lang="fr-FR" sz="1600" dirty="0"/>
          </a:p>
          <a:p>
            <a:endParaRPr lang="fr-FR" sz="1600" dirty="0" smtClean="0"/>
          </a:p>
          <a:p>
            <a:endParaRPr lang="fr-FR" sz="1600" dirty="0"/>
          </a:p>
          <a:p>
            <a:endParaRPr lang="fr-FR" sz="1600" dirty="0" smtClean="0"/>
          </a:p>
          <a:p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r>
              <a:rPr lang="fr-FR" sz="1600" dirty="0" err="1" smtClean="0"/>
              <a:t>Example</a:t>
            </a:r>
            <a:r>
              <a:rPr lang="fr-FR" sz="1600" dirty="0" smtClean="0"/>
              <a:t> of 488-nm </a:t>
            </a:r>
            <a:r>
              <a:rPr lang="fr-FR" sz="1600" dirty="0" err="1" smtClean="0"/>
              <a:t>switching</a:t>
            </a:r>
            <a:r>
              <a:rPr lang="fr-FR" sz="1600" dirty="0" smtClean="0"/>
              <a:t> + 405-nm </a:t>
            </a:r>
            <a:r>
              <a:rPr lang="fr-FR" sz="1600" dirty="0" err="1" smtClean="0"/>
              <a:t>recovery</a:t>
            </a:r>
            <a:endParaRPr lang="fr-FR" sz="1600" dirty="0" smtClean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96620"/>
              </p:ext>
            </p:extLst>
          </p:nvPr>
        </p:nvGraphicFramePr>
        <p:xfrm>
          <a:off x="4283968" y="1196752"/>
          <a:ext cx="2667000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5530"/>
                <a:gridCol w="1016754"/>
                <a:gridCol w="864716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>
                          <a:effectLst/>
                        </a:rPr>
                        <a:t>Mean dark-states lifetimes (s)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Laser power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D1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D2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165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41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1,0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65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1,8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44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120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2,8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15" name="Graphique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348741"/>
              </p:ext>
            </p:extLst>
          </p:nvPr>
        </p:nvGraphicFramePr>
        <p:xfrm>
          <a:off x="611560" y="2060848"/>
          <a:ext cx="3240360" cy="216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Graphique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5726557"/>
              </p:ext>
            </p:extLst>
          </p:nvPr>
        </p:nvGraphicFramePr>
        <p:xfrm>
          <a:off x="4493339" y="2060848"/>
          <a:ext cx="3312368" cy="2232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564354"/>
              </p:ext>
            </p:extLst>
          </p:nvPr>
        </p:nvGraphicFramePr>
        <p:xfrm>
          <a:off x="251520" y="1196752"/>
          <a:ext cx="3873500" cy="916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825500"/>
                <a:gridCol w="762000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>
                          <a:effectLst/>
                        </a:rPr>
                        <a:t>Laser power (µW)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effectLst/>
                        </a:rPr>
                        <a:t>Mean</a:t>
                      </a:r>
                      <a:r>
                        <a:rPr lang="fr-FR" sz="1100" b="1" u="none" strike="noStrike" dirty="0">
                          <a:effectLst/>
                        </a:rPr>
                        <a:t> km1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u="none" strike="noStrike" dirty="0">
                          <a:effectLst/>
                        </a:rPr>
                        <a:t>SD km1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u="none" strike="noStrike" dirty="0" err="1">
                          <a:effectLst/>
                        </a:rPr>
                        <a:t>Mean</a:t>
                      </a:r>
                      <a:r>
                        <a:rPr lang="fr-FR" sz="1100" b="1" u="none" strike="noStrike" dirty="0">
                          <a:effectLst/>
                        </a:rPr>
                        <a:t> km1_2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u="none" strike="noStrike" dirty="0">
                          <a:effectLst/>
                        </a:rPr>
                        <a:t>SD km1_2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165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0,024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0,002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1,003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0,295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0,015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0,001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0,570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0,046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44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0,008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0,000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0,363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0,055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pic>
        <p:nvPicPr>
          <p:cNvPr id="1025" name="Picture 1" descr="\\SCIENCE4\exp-plateforme-m4d\PALM\DANIEL\170821\PROCESSING\Exp2_fi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4509120"/>
            <a:ext cx="4251529" cy="233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ZoneTexte 16"/>
          <p:cNvSpPr txBox="1"/>
          <p:nvPr/>
        </p:nvSpPr>
        <p:spPr>
          <a:xfrm>
            <a:off x="4427984" y="5157192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488 nm 165 µW</a:t>
            </a:r>
          </a:p>
          <a:p>
            <a:r>
              <a:rPr lang="fr-FR" sz="1400" dirty="0" smtClean="0"/>
              <a:t>405 nm 0.25 µW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1703691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7232</TotalTime>
  <Words>581</Words>
  <Application>Microsoft Office PowerPoint</Application>
  <PresentationFormat>Affichage à l'écran (4:3)</PresentationFormat>
  <Paragraphs>231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Single-molecule and bulk experiments  mEos4b red form</vt:lpstr>
      <vt:lpstr>Single-molecule experiments</vt:lpstr>
      <vt:lpstr>Bulk experiments</vt:lpstr>
      <vt:lpstr>Bulk experiments</vt:lpstr>
      <vt:lpstr>Coherence between bulk and single-molecule experiments</vt:lpstr>
      <vt:lpstr>Bulk experiments  mEos4b green form</vt:lpstr>
      <vt:lpstr>Bulk experiments (green mEos4b)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Single-molecule and bulk experiments  mEos4b red form</dc:title>
  <dc:creator>Daniel Thédié</dc:creator>
  <cp:lastModifiedBy>Daniel Thédié</cp:lastModifiedBy>
  <cp:revision>39</cp:revision>
  <dcterms:created xsi:type="dcterms:W3CDTF">2017-08-17T14:22:00Z</dcterms:created>
  <dcterms:modified xsi:type="dcterms:W3CDTF">2017-08-28T08:47:33Z</dcterms:modified>
</cp:coreProperties>
</file>